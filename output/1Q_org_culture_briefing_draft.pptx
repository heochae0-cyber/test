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101" d="100"/>
          <a:sy n="101" d="100"/>
        </p:scale>
        <p:origin x="87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B053CA-7299-EE58-0854-E70C30BA4A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E189DE9-967A-484C-3C94-04C6D92881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F33643-5894-0A07-A091-D4919B5ED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6B3D2-6162-40E0-9CCA-D275F1956FEB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5226DF-EBB8-81B5-61E3-BFC7F6A6B1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AF605A3-96AF-C713-A173-F612A5EDD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7A985-7D01-40FD-8D12-AF74CB6FC5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8184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F5D631-3608-2330-3C14-5747CF8AF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C3FCB0-AC13-C03F-4846-4E7332B6F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D790C2-9ADA-A5CD-1E15-9F7D1C666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6B3D2-6162-40E0-9CCA-D275F1956FEB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00733E-ED47-46DB-00FC-C46335DAA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611A29-108F-0FF0-256C-CB90E0930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7A985-7D01-40FD-8D12-AF74CB6FC5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8986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8CB6A1-3D02-7D82-AC63-B630B9D3E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DB446A-4AC4-D8A1-E755-94B73F2CDE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408FFA-9E39-DDA1-7C9A-FD666E35E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6B3D2-6162-40E0-9CCA-D275F1956FEB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39E48D-CC3E-8AFE-144E-EA933B6AA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2C7D36-3568-1621-2E51-632155020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7A985-7D01-40FD-8D12-AF74CB6FC5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5050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56545C-1140-B9F4-3547-C2DAB0C0B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2000C7D-0A3E-A551-3708-7E391EFB65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13D0E9F-08F1-6257-1F49-F937336A66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263FD1E-3C0E-CEED-04DE-0E544AC28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6B3D2-6162-40E0-9CCA-D275F1956FEB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66C2414-36DF-0DB7-4460-00E48504B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0B58164-4253-1436-2161-7ED413087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7A985-7D01-40FD-8D12-AF74CB6FC5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0823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D7BF63-2369-F9DC-0B68-F443EAAC1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CDE5381-EBB5-2E2B-CA9C-7896090E1B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688F1F8-F52A-2D7D-C5D4-172A8B3B0C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E77E4E5-6F3D-46DB-CACC-D8F04E4203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042321E-0193-D7AE-FB1E-209ECBD91B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A2E2306-C516-6356-9E9B-E6F3055E7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6B3D2-6162-40E0-9CCA-D275F1956FEB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7CD6C6C-B69B-55AC-09C7-B058384B0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391A994-AB10-B042-D68D-02A2AADAE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7A985-7D01-40FD-8D12-AF74CB6FC5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052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BB2950-3F75-11B0-17B9-AAA0DBBBA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42771E4-014D-52A5-FD2B-8D132DB58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6B3D2-6162-40E0-9CCA-D275F1956FEB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82C17A1-FDA0-F1FA-541F-EA821744B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2AAC79C-FC30-6635-F4E0-582543873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7A985-7D01-40FD-8D12-AF74CB6FC5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6105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020C662-4CDD-22AB-B205-116610B4E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6B3D2-6162-40E0-9CCA-D275F1956FEB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7DC6FC7-8C13-5388-D063-51117F05E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4B72E5-96DE-3C6F-E7CC-A469A59F7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7A985-7D01-40FD-8D12-AF74CB6FC5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43768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18D573-D8B0-1527-8B64-AFF4267E6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08CD03E-6CB6-A831-BC07-7E7217A8A2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EA54205-C2AA-8194-053B-745CE4AB73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42FCFD9-1C0E-2B77-D504-660B561BE3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6B3D2-6162-40E0-9CCA-D275F1956FEB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44BAEA2-AFC6-675C-9A72-62D32C74B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AAE39E-6643-623C-75F3-0898CF434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7A985-7D01-40FD-8D12-AF74CB6FC5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4461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3B94C5-F3C5-6A8A-30B5-501A995B6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B3FF140-569D-CE44-8174-53B76BDB9F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E791205-6EE9-93F4-25B9-49EEB99819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DDC508-21DA-D878-7538-54CCF7AA1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6B3D2-6162-40E0-9CCA-D275F1956FEB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C68B3ED-84F6-2124-1694-A3906F567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D2521FC-8D01-0FBD-273B-FFD9A0E8B1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7A985-7D01-40FD-8D12-AF74CB6FC5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809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7A571E-8828-C305-1458-49D9C8940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5703167-E169-9B2A-1B1D-AE1C0E225A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AE4099-DFAC-95B6-F05F-2AD66F3305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6B3D2-6162-40E0-9CCA-D275F1956FEB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4005D8-BBDE-10D7-D63B-35CB5994A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6B16A1D-B1C5-2D90-7CEF-04537A664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7A985-7D01-40FD-8D12-AF74CB6FC5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7080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D7140D6-356C-13BF-3D14-55CC266B19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C56D0A4-BAD1-2220-E0FE-880585835D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150F7C-CE53-C9E4-65BD-38F0B7176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96B3D2-6162-40E0-9CCA-D275F1956FEB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54D4B-08DA-F761-CAD6-2BED00BE3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7DB270-8429-1767-9206-C109D5192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7A985-7D01-40FD-8D12-AF74CB6FC5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9052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49C8D20-7FAC-86C5-EB1B-19AA1EDAE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8A13FE-347D-2CE8-393C-085085705E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FA09D2-652C-DA6D-3BB7-98AF4FD015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96B3D2-6162-40E0-9CCA-D275F1956FEB}" type="datetimeFigureOut">
              <a:rPr lang="ko-KR" altLang="en-US" smtClean="0"/>
              <a:t>2026-04-02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B7BACD-9C80-D125-EEE4-87A9E008D2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4EE62F-D4C7-DB1F-482A-98185865B3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97A985-7D01-40FD-8D12-AF74CB6FC5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0299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CE1E52D-3A12-B423-8D40-C8A1BD93FA71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F50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E971303-975E-B9B7-2083-96A2337C9D49}"/>
              </a:ext>
            </a:extLst>
          </p:cNvPr>
          <p:cNvSpPr txBox="1"/>
          <p:nvPr/>
        </p:nvSpPr>
        <p:spPr>
          <a:xfrm>
            <a:off x="0" y="2000250"/>
            <a:ext cx="1219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2000" b="1">
                <a:solidFill>
                  <a:srgbClr val="EF5030"/>
                </a:solidFill>
                <a:latin typeface="Malgun Gothic" panose="020B0503020000020004" pitchFamily="50" charset="-127"/>
              </a:rPr>
              <a:t>[</a:t>
            </a:r>
            <a:r>
              <a:rPr lang="ko-KR" altLang="en-US" sz="2000" b="1">
                <a:solidFill>
                  <a:srgbClr val="EF5030"/>
                </a:solidFill>
                <a:latin typeface="Malgun Gothic" panose="020B0503020000020004" pitchFamily="50" charset="-127"/>
              </a:rPr>
              <a:t>기획 초안</a:t>
            </a:r>
            <a:r>
              <a:rPr lang="en-US" altLang="ko-KR" sz="2000" b="1">
                <a:solidFill>
                  <a:srgbClr val="EF5030"/>
                </a:solidFill>
                <a:latin typeface="Malgun Gothic" panose="020B0503020000020004" pitchFamily="50" charset="-127"/>
              </a:rPr>
              <a:t>]</a:t>
            </a:r>
            <a:endParaRPr lang="ko-KR" altLang="en-US" sz="2000" b="1">
              <a:solidFill>
                <a:srgbClr val="EF503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242855-979E-C142-5ED0-B17A3A692B10}"/>
              </a:ext>
            </a:extLst>
          </p:cNvPr>
          <p:cNvSpPr txBox="1"/>
          <p:nvPr/>
        </p:nvSpPr>
        <p:spPr>
          <a:xfrm>
            <a:off x="0" y="2428875"/>
            <a:ext cx="1219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5000" b="1">
                <a:solidFill>
                  <a:srgbClr val="EF5030"/>
                </a:solidFill>
                <a:latin typeface="Montserrat" panose="020F0502020204030204" pitchFamily="2" charset="0"/>
              </a:rPr>
              <a:t>1Q </a:t>
            </a:r>
            <a:r>
              <a:rPr lang="ko-KR" altLang="en-US" sz="5000" b="1">
                <a:solidFill>
                  <a:srgbClr val="EF5030"/>
                </a:solidFill>
                <a:latin typeface="Montserrat" panose="020F0502020204030204" pitchFamily="2" charset="0"/>
              </a:rPr>
              <a:t>조직문화 브리핑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62693F-4D2E-2D38-1C92-EF2E035F8C4F}"/>
              </a:ext>
            </a:extLst>
          </p:cNvPr>
          <p:cNvSpPr txBox="1"/>
          <p:nvPr/>
        </p:nvSpPr>
        <p:spPr>
          <a:xfrm>
            <a:off x="0" y="3200400"/>
            <a:ext cx="12192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2800">
                <a:solidFill>
                  <a:srgbClr val="6C757D"/>
                </a:solidFill>
                <a:latin typeface="Malgun Gothic" panose="020B0503020000020004" pitchFamily="50" charset="-127"/>
              </a:rPr>
              <a:t>4</a:t>
            </a:r>
            <a:r>
              <a:rPr lang="ko-KR" altLang="en-US" sz="2800">
                <a:solidFill>
                  <a:srgbClr val="6C757D"/>
                </a:solidFill>
                <a:latin typeface="Malgun Gothic" panose="020B0503020000020004" pitchFamily="50" charset="-127"/>
              </a:rPr>
              <a:t>월 전사 나들이 이벤트 세션 운영 계획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2BE68E9F-4148-2E85-62B0-37A26BC4885C}"/>
              </a:ext>
            </a:extLst>
          </p:cNvPr>
          <p:cNvCxnSpPr/>
          <p:nvPr/>
        </p:nvCxnSpPr>
        <p:spPr>
          <a:xfrm>
            <a:off x="4476750" y="4333875"/>
            <a:ext cx="3238500" cy="0"/>
          </a:xfrm>
          <a:prstGeom prst="line">
            <a:avLst/>
          </a:prstGeom>
          <a:ln w="12700">
            <a:solidFill>
              <a:srgbClr val="DDDD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A1115BF4-AB7C-16B1-AB18-7F700B087313}"/>
              </a:ext>
            </a:extLst>
          </p:cNvPr>
          <p:cNvSpPr txBox="1"/>
          <p:nvPr/>
        </p:nvSpPr>
        <p:spPr>
          <a:xfrm>
            <a:off x="3619500" y="4476750"/>
            <a:ext cx="4953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ko-KR" altLang="en-US" sz="2000">
                <a:solidFill>
                  <a:srgbClr val="2D3436"/>
                </a:solidFill>
                <a:latin typeface="Malgun Gothic" panose="020B0503020000020004" pitchFamily="50" charset="-127"/>
              </a:rPr>
              <a:t>아이포트폴리오 피플팀 </a:t>
            </a:r>
            <a:r>
              <a:rPr lang="en-US" altLang="ko-KR" sz="2000">
                <a:solidFill>
                  <a:srgbClr val="2D3436"/>
                </a:solidFill>
                <a:latin typeface="Malgun Gothic" panose="020B0503020000020004" pitchFamily="50" charset="-127"/>
              </a:rPr>
              <a:t>/ </a:t>
            </a:r>
            <a:r>
              <a:rPr lang="ko-KR" altLang="en-US" sz="2000">
                <a:solidFill>
                  <a:srgbClr val="2D3436"/>
                </a:solidFill>
                <a:latin typeface="Malgun Gothic" panose="020B0503020000020004" pitchFamily="50" charset="-127"/>
              </a:rPr>
              <a:t>조직문화 담당</a:t>
            </a:r>
          </a:p>
        </p:txBody>
      </p:sp>
    </p:spTree>
    <p:extLst>
      <p:ext uri="{BB962C8B-B14F-4D97-AF65-F5344CB8AC3E}">
        <p14:creationId xmlns:p14="http://schemas.microsoft.com/office/powerpoint/2010/main" val="418901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62DBC4A-8823-7A0F-ED19-0D72D738C6F5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F50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293E9DB7-0206-7154-FA56-918FD6964C5D}"/>
              </a:ext>
            </a:extLst>
          </p:cNvPr>
          <p:cNvSpPr/>
          <p:nvPr/>
        </p:nvSpPr>
        <p:spPr>
          <a:xfrm>
            <a:off x="9620250" y="285750"/>
            <a:ext cx="1809750" cy="400050"/>
          </a:xfrm>
          <a:prstGeom prst="roundRect">
            <a:avLst/>
          </a:prstGeom>
          <a:solidFill>
            <a:srgbClr val="FFF1F0"/>
          </a:solidFill>
          <a:ln w="15875">
            <a:solidFill>
              <a:srgbClr val="EF50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7150" tIns="66675" rtlCol="0" anchor="ctr">
            <a:noAutofit/>
          </a:bodyPr>
          <a:lstStyle/>
          <a:p>
            <a:pPr algn="ctr"/>
            <a:r>
              <a:rPr lang="ko-KR" altLang="en-US" sz="1400" b="1">
                <a:solidFill>
                  <a:srgbClr val="EF5030"/>
                </a:solidFill>
                <a:latin typeface="Malgun Gothic" panose="020B0503020000020004" pitchFamily="50" charset="-127"/>
              </a:rPr>
              <a:t>기획 배경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E407B1-870B-3224-4476-274AE1218E3A}"/>
              </a:ext>
            </a:extLst>
          </p:cNvPr>
          <p:cNvSpPr txBox="1"/>
          <p:nvPr/>
        </p:nvSpPr>
        <p:spPr>
          <a:xfrm>
            <a:off x="762000" y="704850"/>
            <a:ext cx="8572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3800" b="1">
                <a:solidFill>
                  <a:srgbClr val="EF5030"/>
                </a:solidFill>
                <a:latin typeface="Malgun Gothic" panose="020B0503020000020004" pitchFamily="50" charset="-127"/>
              </a:rPr>
              <a:t>왜 이 시간을 가져야 하는가</a:t>
            </a:r>
            <a:r>
              <a:rPr lang="en-US" altLang="ko-KR" sz="3800" b="1">
                <a:solidFill>
                  <a:srgbClr val="EF5030"/>
                </a:solidFill>
                <a:latin typeface="Malgun Gothic" panose="020B0503020000020004" pitchFamily="50" charset="-127"/>
              </a:rPr>
              <a:t>?</a:t>
            </a:r>
            <a:endParaRPr lang="ko-KR" altLang="en-US" sz="3800" b="1">
              <a:solidFill>
                <a:srgbClr val="EF503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CE681D-423A-6399-C27F-09EDF7D6041B}"/>
              </a:ext>
            </a:extLst>
          </p:cNvPr>
          <p:cNvSpPr txBox="1"/>
          <p:nvPr/>
        </p:nvSpPr>
        <p:spPr>
          <a:xfrm>
            <a:off x="762000" y="1123950"/>
            <a:ext cx="9334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000">
                <a:solidFill>
                  <a:srgbClr val="6C757D"/>
                </a:solidFill>
                <a:latin typeface="Malgun Gothic" panose="020B0503020000020004" pitchFamily="50" charset="-127"/>
              </a:rPr>
              <a:t>브리핑 세션의 핵심 목적 및 지향점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C10726E3-C4B2-A613-BF8F-29B028E7F8F3}"/>
              </a:ext>
            </a:extLst>
          </p:cNvPr>
          <p:cNvCxnSpPr/>
          <p:nvPr/>
        </p:nvCxnSpPr>
        <p:spPr>
          <a:xfrm>
            <a:off x="762000" y="1600200"/>
            <a:ext cx="10668000" cy="0"/>
          </a:xfrm>
          <a:prstGeom prst="line">
            <a:avLst/>
          </a:prstGeom>
          <a:ln w="19050">
            <a:solidFill>
              <a:srgbClr val="F1F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0ED41DC-0DD8-E14A-94E2-A8004E33A6A2}"/>
              </a:ext>
            </a:extLst>
          </p:cNvPr>
          <p:cNvSpPr/>
          <p:nvPr/>
        </p:nvSpPr>
        <p:spPr>
          <a:xfrm>
            <a:off x="762000" y="2095500"/>
            <a:ext cx="5048250" cy="1428750"/>
          </a:xfrm>
          <a:prstGeom prst="roundRect">
            <a:avLst/>
          </a:prstGeom>
          <a:solidFill>
            <a:srgbClr val="F1F2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B16E01C-F345-C235-1794-E35BD1AC6F3B}"/>
              </a:ext>
            </a:extLst>
          </p:cNvPr>
          <p:cNvSpPr/>
          <p:nvPr/>
        </p:nvSpPr>
        <p:spPr>
          <a:xfrm>
            <a:off x="762000" y="2095500"/>
            <a:ext cx="47625" cy="1428750"/>
          </a:xfrm>
          <a:prstGeom prst="rect">
            <a:avLst/>
          </a:prstGeom>
          <a:solidFill>
            <a:srgbClr val="EF50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96E387-6AE3-35F8-ADC0-615C5A353B54}"/>
              </a:ext>
            </a:extLst>
          </p:cNvPr>
          <p:cNvSpPr txBox="1"/>
          <p:nvPr/>
        </p:nvSpPr>
        <p:spPr>
          <a:xfrm>
            <a:off x="990600" y="2286000"/>
            <a:ext cx="459105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2400" b="1">
                <a:solidFill>
                  <a:srgbClr val="2D3436"/>
                </a:solidFill>
                <a:latin typeface="Malgun Gothic" panose="020B0503020000020004" pitchFamily="50" charset="-127"/>
              </a:rPr>
              <a:t>1. </a:t>
            </a:r>
            <a:r>
              <a:rPr lang="ko-KR" altLang="en-US" sz="2400" b="1">
                <a:solidFill>
                  <a:srgbClr val="2D3436"/>
                </a:solidFill>
                <a:latin typeface="Malgun Gothic" panose="020B0503020000020004" pitchFamily="50" charset="-127"/>
              </a:rPr>
              <a:t>성과의 가시화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694DB0-7948-DEEB-69E8-53FA39F11B23}"/>
              </a:ext>
            </a:extLst>
          </p:cNvPr>
          <p:cNvSpPr txBox="1"/>
          <p:nvPr/>
        </p:nvSpPr>
        <p:spPr>
          <a:xfrm>
            <a:off x="990600" y="2667000"/>
            <a:ext cx="4591050" cy="120032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>
                <a:solidFill>
                  <a:srgbClr val="4B4B4B"/>
                </a:solidFill>
                <a:latin typeface="Malgun Gothic" panose="020B0503020000020004" pitchFamily="50" charset="-127"/>
              </a:rPr>
              <a:t>1</a:t>
            </a:r>
            <a:r>
              <a:rPr lang="ko-KR" altLang="en-US">
                <a:solidFill>
                  <a:srgbClr val="4B4B4B"/>
                </a:solidFill>
                <a:latin typeface="Malgun Gothic" panose="020B0503020000020004" pitchFamily="50" charset="-127"/>
              </a:rPr>
              <a:t>분기 동안 진행된 다양한 활동들이 단발성 이벤트로 끝나지 않고</a:t>
            </a:r>
            <a:r>
              <a:rPr lang="en-US" altLang="ko-KR">
                <a:solidFill>
                  <a:srgbClr val="4B4B4B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>
                <a:solidFill>
                  <a:srgbClr val="4B4B4B"/>
                </a:solidFill>
                <a:latin typeface="Malgun Gothic" panose="020B0503020000020004" pitchFamily="50" charset="-127"/>
              </a:rPr>
              <a:t>조직의 </a:t>
            </a:r>
            <a:r>
              <a:rPr lang="en-US" altLang="ko-KR">
                <a:solidFill>
                  <a:srgbClr val="4B4B4B"/>
                </a:solidFill>
                <a:latin typeface="Malgun Gothic" panose="020B0503020000020004" pitchFamily="50" charset="-127"/>
              </a:rPr>
              <a:t>'</a:t>
            </a:r>
            <a:r>
              <a:rPr lang="ko-KR" altLang="en-US">
                <a:solidFill>
                  <a:srgbClr val="4B4B4B"/>
                </a:solidFill>
                <a:latin typeface="Malgun Gothic" panose="020B0503020000020004" pitchFamily="50" charset="-127"/>
              </a:rPr>
              <a:t>성장 기록</a:t>
            </a:r>
            <a:r>
              <a:rPr lang="en-US" altLang="ko-KR">
                <a:solidFill>
                  <a:srgbClr val="4B4B4B"/>
                </a:solidFill>
                <a:latin typeface="Malgun Gothic" panose="020B0503020000020004" pitchFamily="50" charset="-127"/>
              </a:rPr>
              <a:t>'</a:t>
            </a:r>
            <a:r>
              <a:rPr lang="ko-KR" altLang="en-US">
                <a:solidFill>
                  <a:srgbClr val="4B4B4B"/>
                </a:solidFill>
                <a:latin typeface="Malgun Gothic" panose="020B0503020000020004" pitchFamily="50" charset="-127"/>
              </a:rPr>
              <a:t>으로 남을 수 있도록 전사에 공식적으로 공유합니다</a:t>
            </a:r>
            <a:r>
              <a:rPr lang="en-US" altLang="ko-KR">
                <a:solidFill>
                  <a:srgbClr val="4B4B4B"/>
                </a:solidFill>
                <a:latin typeface="Malgun Gothic" panose="020B0503020000020004" pitchFamily="50" charset="-127"/>
              </a:rPr>
              <a:t>.</a:t>
            </a:r>
            <a:endParaRPr lang="ko-KR" altLang="en-US">
              <a:solidFill>
                <a:srgbClr val="4B4B4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E8C0FA56-203F-4DFB-A273-D4F8A33F0DFC}"/>
              </a:ext>
            </a:extLst>
          </p:cNvPr>
          <p:cNvSpPr/>
          <p:nvPr/>
        </p:nvSpPr>
        <p:spPr>
          <a:xfrm>
            <a:off x="6191250" y="2095500"/>
            <a:ext cx="5048250" cy="1428750"/>
          </a:xfrm>
          <a:prstGeom prst="roundRect">
            <a:avLst/>
          </a:prstGeom>
          <a:solidFill>
            <a:srgbClr val="F1F2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573AD69-5482-04F0-57F9-7531280744DC}"/>
              </a:ext>
            </a:extLst>
          </p:cNvPr>
          <p:cNvSpPr/>
          <p:nvPr/>
        </p:nvSpPr>
        <p:spPr>
          <a:xfrm>
            <a:off x="6191250" y="2095500"/>
            <a:ext cx="47625" cy="1428750"/>
          </a:xfrm>
          <a:prstGeom prst="rect">
            <a:avLst/>
          </a:prstGeom>
          <a:solidFill>
            <a:srgbClr val="EF50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9566268-D076-1D30-003E-FD08AFC6ABD5}"/>
              </a:ext>
            </a:extLst>
          </p:cNvPr>
          <p:cNvSpPr txBox="1"/>
          <p:nvPr/>
        </p:nvSpPr>
        <p:spPr>
          <a:xfrm>
            <a:off x="6419850" y="2286000"/>
            <a:ext cx="459105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2400" b="1">
                <a:solidFill>
                  <a:srgbClr val="2D3436"/>
                </a:solidFill>
                <a:latin typeface="Malgun Gothic" panose="020B0503020000020004" pitchFamily="50" charset="-127"/>
              </a:rPr>
              <a:t>2. </a:t>
            </a:r>
            <a:r>
              <a:rPr lang="ko-KR" altLang="en-US" sz="2400" b="1">
                <a:solidFill>
                  <a:srgbClr val="2D3436"/>
                </a:solidFill>
                <a:latin typeface="Malgun Gothic" panose="020B0503020000020004" pitchFamily="50" charset="-127"/>
              </a:rPr>
              <a:t>핵심 가치 리마인드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F2C21F-52D4-39D8-A801-98A61878DB3E}"/>
              </a:ext>
            </a:extLst>
          </p:cNvPr>
          <p:cNvSpPr txBox="1"/>
          <p:nvPr/>
        </p:nvSpPr>
        <p:spPr>
          <a:xfrm>
            <a:off x="6419850" y="2667000"/>
            <a:ext cx="4591050" cy="92333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>
                <a:solidFill>
                  <a:srgbClr val="4B4B4B"/>
                </a:solidFill>
                <a:latin typeface="Malgun Gothic" panose="020B0503020000020004" pitchFamily="50" charset="-127"/>
              </a:rPr>
              <a:t>아이포트폴리오의 고유 문화인 </a:t>
            </a:r>
            <a:r>
              <a:rPr lang="en-US" altLang="ko-KR">
                <a:solidFill>
                  <a:srgbClr val="4B4B4B"/>
                </a:solidFill>
                <a:latin typeface="Malgun Gothic" panose="020B0503020000020004" pitchFamily="50" charset="-127"/>
              </a:rPr>
              <a:t>'</a:t>
            </a:r>
            <a:r>
              <a:rPr lang="ko-KR" altLang="en-US">
                <a:solidFill>
                  <a:srgbClr val="4B4B4B"/>
                </a:solidFill>
                <a:latin typeface="Malgun Gothic" panose="020B0503020000020004" pitchFamily="50" charset="-127"/>
              </a:rPr>
              <a:t>학습</a:t>
            </a:r>
            <a:r>
              <a:rPr lang="en-US" altLang="ko-KR">
                <a:solidFill>
                  <a:srgbClr val="4B4B4B"/>
                </a:solidFill>
                <a:latin typeface="Malgun Gothic" panose="020B0503020000020004" pitchFamily="50" charset="-127"/>
              </a:rPr>
              <a:t>(Booktalk, Dev Ocean)'</a:t>
            </a:r>
            <a:r>
              <a:rPr lang="ko-KR" altLang="en-US">
                <a:solidFill>
                  <a:srgbClr val="4B4B4B"/>
                </a:solidFill>
                <a:latin typeface="Malgun Gothic" panose="020B0503020000020004" pitchFamily="50" charset="-127"/>
              </a:rPr>
              <a:t>과 </a:t>
            </a:r>
            <a:r>
              <a:rPr lang="en-US" altLang="ko-KR">
                <a:solidFill>
                  <a:srgbClr val="4B4B4B"/>
                </a:solidFill>
                <a:latin typeface="Malgun Gothic" panose="020B0503020000020004" pitchFamily="50" charset="-127"/>
              </a:rPr>
              <a:t>'</a:t>
            </a:r>
            <a:r>
              <a:rPr lang="ko-KR" altLang="en-US">
                <a:solidFill>
                  <a:srgbClr val="4B4B4B"/>
                </a:solidFill>
                <a:latin typeface="Malgun Gothic" panose="020B0503020000020004" pitchFamily="50" charset="-127"/>
              </a:rPr>
              <a:t>소통</a:t>
            </a:r>
            <a:r>
              <a:rPr lang="en-US" altLang="ko-KR">
                <a:solidFill>
                  <a:srgbClr val="4B4B4B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>
                <a:solidFill>
                  <a:srgbClr val="4B4B4B"/>
                </a:solidFill>
                <a:latin typeface="Malgun Gothic" panose="020B0503020000020004" pitchFamily="50" charset="-127"/>
              </a:rPr>
              <a:t>삼삼오오</a:t>
            </a:r>
            <a:r>
              <a:rPr lang="en-US" altLang="ko-KR">
                <a:solidFill>
                  <a:srgbClr val="4B4B4B"/>
                </a:solidFill>
                <a:latin typeface="Malgun Gothic" panose="020B0503020000020004" pitchFamily="50" charset="-127"/>
              </a:rPr>
              <a:t>, Sync Hall)'</a:t>
            </a:r>
            <a:r>
              <a:rPr lang="ko-KR" altLang="en-US">
                <a:solidFill>
                  <a:srgbClr val="4B4B4B"/>
                </a:solidFill>
                <a:latin typeface="Malgun Gothic" panose="020B0503020000020004" pitchFamily="50" charset="-127"/>
              </a:rPr>
              <a:t>의 의미를 다시 한번 되새깁니다</a:t>
            </a:r>
            <a:r>
              <a:rPr lang="en-US" altLang="ko-KR">
                <a:solidFill>
                  <a:srgbClr val="4B4B4B"/>
                </a:solidFill>
                <a:latin typeface="Malgun Gothic" panose="020B0503020000020004" pitchFamily="50" charset="-127"/>
              </a:rPr>
              <a:t>.</a:t>
            </a:r>
            <a:endParaRPr lang="ko-KR" altLang="en-US">
              <a:solidFill>
                <a:srgbClr val="4B4B4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0F72D7F0-14A6-0190-6EF9-41AAA957728A}"/>
              </a:ext>
            </a:extLst>
          </p:cNvPr>
          <p:cNvSpPr/>
          <p:nvPr/>
        </p:nvSpPr>
        <p:spPr>
          <a:xfrm>
            <a:off x="762000" y="3762375"/>
            <a:ext cx="5048250" cy="1428750"/>
          </a:xfrm>
          <a:prstGeom prst="roundRect">
            <a:avLst/>
          </a:prstGeom>
          <a:solidFill>
            <a:srgbClr val="F1F2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019FD60-681C-65A8-DDC5-3AA9C1F50B0F}"/>
              </a:ext>
            </a:extLst>
          </p:cNvPr>
          <p:cNvSpPr/>
          <p:nvPr/>
        </p:nvSpPr>
        <p:spPr>
          <a:xfrm>
            <a:off x="762000" y="3762375"/>
            <a:ext cx="47625" cy="1428750"/>
          </a:xfrm>
          <a:prstGeom prst="rect">
            <a:avLst/>
          </a:prstGeom>
          <a:solidFill>
            <a:srgbClr val="EF50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334D664-4D63-D4A2-B9FA-A33FAE177229}"/>
              </a:ext>
            </a:extLst>
          </p:cNvPr>
          <p:cNvSpPr txBox="1"/>
          <p:nvPr/>
        </p:nvSpPr>
        <p:spPr>
          <a:xfrm>
            <a:off x="990600" y="3952875"/>
            <a:ext cx="459105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2400" b="1">
                <a:solidFill>
                  <a:srgbClr val="2D3436"/>
                </a:solidFill>
                <a:latin typeface="Malgun Gothic" panose="020B0503020000020004" pitchFamily="50" charset="-127"/>
              </a:rPr>
              <a:t>3. </a:t>
            </a:r>
            <a:r>
              <a:rPr lang="ko-KR" altLang="en-US" sz="2400" b="1">
                <a:solidFill>
                  <a:srgbClr val="2D3436"/>
                </a:solidFill>
                <a:latin typeface="Malgun Gothic" panose="020B0503020000020004" pitchFamily="50" charset="-127"/>
              </a:rPr>
              <a:t>정서적 유대감 강화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E19949B-61FF-5CB7-721D-5BC23C6BC92F}"/>
              </a:ext>
            </a:extLst>
          </p:cNvPr>
          <p:cNvSpPr txBox="1"/>
          <p:nvPr/>
        </p:nvSpPr>
        <p:spPr>
          <a:xfrm>
            <a:off x="990600" y="4333875"/>
            <a:ext cx="4591050" cy="92333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>
                <a:solidFill>
                  <a:srgbClr val="4B4B4B"/>
                </a:solidFill>
                <a:latin typeface="Malgun Gothic" panose="020B0503020000020004" pitchFamily="50" charset="-127"/>
              </a:rPr>
              <a:t>전사 나들이라는 캐주얼한 장소에서 가볍게 즐기되</a:t>
            </a:r>
            <a:r>
              <a:rPr lang="en-US" altLang="ko-KR">
                <a:solidFill>
                  <a:srgbClr val="4B4B4B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>
                <a:solidFill>
                  <a:srgbClr val="4B4B4B"/>
                </a:solidFill>
                <a:latin typeface="Malgun Gothic" panose="020B0503020000020004" pitchFamily="50" charset="-127"/>
              </a:rPr>
              <a:t>서로의 성장을 박수 쳐주는 자부심</a:t>
            </a:r>
            <a:r>
              <a:rPr lang="en-US" altLang="ko-KR">
                <a:solidFill>
                  <a:srgbClr val="4B4B4B"/>
                </a:solidFill>
                <a:latin typeface="Malgun Gothic" panose="020B0503020000020004" pitchFamily="50" charset="-127"/>
              </a:rPr>
              <a:t>(Pride) </a:t>
            </a:r>
            <a:r>
              <a:rPr lang="ko-KR" altLang="en-US">
                <a:solidFill>
                  <a:srgbClr val="4B4B4B"/>
                </a:solidFill>
                <a:latin typeface="Malgun Gothic" panose="020B0503020000020004" pitchFamily="50" charset="-127"/>
              </a:rPr>
              <a:t>고취의 시간으로 활용합니다</a:t>
            </a:r>
            <a:r>
              <a:rPr lang="en-US" altLang="ko-KR">
                <a:solidFill>
                  <a:srgbClr val="4B4B4B"/>
                </a:solidFill>
                <a:latin typeface="Malgun Gothic" panose="020B0503020000020004" pitchFamily="50" charset="-127"/>
              </a:rPr>
              <a:t>.</a:t>
            </a:r>
            <a:endParaRPr lang="ko-KR" altLang="en-US">
              <a:solidFill>
                <a:srgbClr val="4B4B4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20DAEC1F-B215-D9FF-B8B0-67D3B163C2D3}"/>
              </a:ext>
            </a:extLst>
          </p:cNvPr>
          <p:cNvSpPr/>
          <p:nvPr/>
        </p:nvSpPr>
        <p:spPr>
          <a:xfrm>
            <a:off x="6191250" y="3762375"/>
            <a:ext cx="5048250" cy="1428750"/>
          </a:xfrm>
          <a:prstGeom prst="roundRect">
            <a:avLst/>
          </a:prstGeom>
          <a:solidFill>
            <a:srgbClr val="F1F2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E2421A8-7DE5-1697-3A2F-1A52BFCF62B9}"/>
              </a:ext>
            </a:extLst>
          </p:cNvPr>
          <p:cNvSpPr/>
          <p:nvPr/>
        </p:nvSpPr>
        <p:spPr>
          <a:xfrm>
            <a:off x="6191250" y="3762375"/>
            <a:ext cx="47625" cy="1428750"/>
          </a:xfrm>
          <a:prstGeom prst="rect">
            <a:avLst/>
          </a:prstGeom>
          <a:solidFill>
            <a:srgbClr val="EF50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FF217D-1343-855F-79F9-6A6013605EE8}"/>
              </a:ext>
            </a:extLst>
          </p:cNvPr>
          <p:cNvSpPr txBox="1"/>
          <p:nvPr/>
        </p:nvSpPr>
        <p:spPr>
          <a:xfrm>
            <a:off x="6419850" y="3952875"/>
            <a:ext cx="459105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2400" b="1">
                <a:solidFill>
                  <a:srgbClr val="2D3436"/>
                </a:solidFill>
                <a:latin typeface="Malgun Gothic" panose="020B0503020000020004" pitchFamily="50" charset="-127"/>
              </a:rPr>
              <a:t>4. </a:t>
            </a:r>
            <a:r>
              <a:rPr lang="ko-KR" altLang="en-US" sz="2400" b="1">
                <a:solidFill>
                  <a:srgbClr val="2D3436"/>
                </a:solidFill>
                <a:latin typeface="Malgun Gothic" panose="020B0503020000020004" pitchFamily="50" charset="-127"/>
              </a:rPr>
              <a:t>도서 문화의 확장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8CE1D0D-AA33-0A2C-36D7-D109EA2B382D}"/>
              </a:ext>
            </a:extLst>
          </p:cNvPr>
          <p:cNvSpPr txBox="1"/>
          <p:nvPr/>
        </p:nvSpPr>
        <p:spPr>
          <a:xfrm>
            <a:off x="6419850" y="4333875"/>
            <a:ext cx="4591050" cy="92333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>
                <a:solidFill>
                  <a:srgbClr val="4B4B4B"/>
                </a:solidFill>
                <a:latin typeface="Malgun Gothic" panose="020B0503020000020004" pitchFamily="50" charset="-127"/>
              </a:rPr>
              <a:t>고도화된 시스템과 추천 도서를 통해 </a:t>
            </a:r>
            <a:r>
              <a:rPr lang="en-US" altLang="ko-KR">
                <a:solidFill>
                  <a:srgbClr val="4B4B4B"/>
                </a:solidFill>
                <a:latin typeface="Malgun Gothic" panose="020B0503020000020004" pitchFamily="50" charset="-127"/>
              </a:rPr>
              <a:t>2</a:t>
            </a:r>
            <a:r>
              <a:rPr lang="ko-KR" altLang="en-US">
                <a:solidFill>
                  <a:srgbClr val="4B4B4B"/>
                </a:solidFill>
                <a:latin typeface="Malgun Gothic" panose="020B0503020000020004" pitchFamily="50" charset="-127"/>
              </a:rPr>
              <a:t>분기에도 </a:t>
            </a:r>
            <a:r>
              <a:rPr lang="en-US" altLang="ko-KR">
                <a:solidFill>
                  <a:srgbClr val="4B4B4B"/>
                </a:solidFill>
                <a:latin typeface="Malgun Gothic" panose="020B0503020000020004" pitchFamily="50" charset="-127"/>
              </a:rPr>
              <a:t>'</a:t>
            </a:r>
            <a:r>
              <a:rPr lang="ko-KR" altLang="en-US">
                <a:solidFill>
                  <a:srgbClr val="4B4B4B"/>
                </a:solidFill>
                <a:latin typeface="Malgun Gothic" panose="020B0503020000020004" pitchFamily="50" charset="-127"/>
              </a:rPr>
              <a:t>읽는 조직</a:t>
            </a:r>
            <a:r>
              <a:rPr lang="en-US" altLang="ko-KR">
                <a:solidFill>
                  <a:srgbClr val="4B4B4B"/>
                </a:solidFill>
                <a:latin typeface="Malgun Gothic" panose="020B0503020000020004" pitchFamily="50" charset="-127"/>
              </a:rPr>
              <a:t>'</a:t>
            </a:r>
            <a:r>
              <a:rPr lang="ko-KR" altLang="en-US">
                <a:solidFill>
                  <a:srgbClr val="4B4B4B"/>
                </a:solidFill>
                <a:latin typeface="Malgun Gothic" panose="020B0503020000020004" pitchFamily="50" charset="-127"/>
              </a:rPr>
              <a:t>으로서의 정체성을 강화하도록 독려합니다</a:t>
            </a:r>
            <a:r>
              <a:rPr lang="en-US" altLang="ko-KR">
                <a:solidFill>
                  <a:srgbClr val="4B4B4B"/>
                </a:solidFill>
                <a:latin typeface="Malgun Gothic" panose="020B0503020000020004" pitchFamily="50" charset="-127"/>
              </a:rPr>
              <a:t>.</a:t>
            </a:r>
            <a:endParaRPr lang="ko-KR" altLang="en-US">
              <a:solidFill>
                <a:srgbClr val="4B4B4B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8436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62B7625-79B6-EDE3-8E1C-1F76C1C4A3AD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F50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CCD5E569-C230-8F39-A24E-E42E1E5A2681}"/>
              </a:ext>
            </a:extLst>
          </p:cNvPr>
          <p:cNvSpPr/>
          <p:nvPr/>
        </p:nvSpPr>
        <p:spPr>
          <a:xfrm>
            <a:off x="9620250" y="285750"/>
            <a:ext cx="1809750" cy="400050"/>
          </a:xfrm>
          <a:prstGeom prst="roundRect">
            <a:avLst/>
          </a:prstGeom>
          <a:solidFill>
            <a:srgbClr val="FFF1F0"/>
          </a:solidFill>
          <a:ln w="15875">
            <a:solidFill>
              <a:srgbClr val="EF50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7150" tIns="66675" rtlCol="0" anchor="ctr">
            <a:noAutofit/>
          </a:bodyPr>
          <a:lstStyle/>
          <a:p>
            <a:pPr algn="ctr"/>
            <a:r>
              <a:rPr lang="ko-KR" altLang="en-US" sz="1400" b="1">
                <a:solidFill>
                  <a:srgbClr val="EF5030"/>
                </a:solidFill>
                <a:latin typeface="Malgun Gothic" panose="020B0503020000020004" pitchFamily="50" charset="-127"/>
              </a:rPr>
              <a:t>세션 구성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DCEBA1-D9A0-6721-3145-7B205B6B5643}"/>
              </a:ext>
            </a:extLst>
          </p:cNvPr>
          <p:cNvSpPr txBox="1"/>
          <p:nvPr/>
        </p:nvSpPr>
        <p:spPr>
          <a:xfrm>
            <a:off x="762000" y="704850"/>
            <a:ext cx="8572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3800" b="1">
                <a:solidFill>
                  <a:srgbClr val="EF5030"/>
                </a:solidFill>
                <a:latin typeface="Malgun Gothic" panose="020B0503020000020004" pitchFamily="50" charset="-127"/>
              </a:rPr>
              <a:t>세션 아젠다 및 타임라인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CC9189-CA1B-C8D0-5AAF-92162FA65D8C}"/>
              </a:ext>
            </a:extLst>
          </p:cNvPr>
          <p:cNvSpPr txBox="1"/>
          <p:nvPr/>
        </p:nvSpPr>
        <p:spPr>
          <a:xfrm>
            <a:off x="762000" y="1123950"/>
            <a:ext cx="9334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000">
                <a:solidFill>
                  <a:srgbClr val="6C757D"/>
                </a:solidFill>
                <a:latin typeface="Malgun Gothic" panose="020B0503020000020004" pitchFamily="50" charset="-127"/>
              </a:rPr>
              <a:t>나들이 분위기를 고려한 </a:t>
            </a:r>
            <a:r>
              <a:rPr lang="en-US" altLang="ko-KR" sz="2000">
                <a:solidFill>
                  <a:srgbClr val="6C757D"/>
                </a:solidFill>
                <a:latin typeface="Malgun Gothic" panose="020B0503020000020004" pitchFamily="50" charset="-127"/>
              </a:rPr>
              <a:t>'</a:t>
            </a:r>
            <a:r>
              <a:rPr lang="ko-KR" altLang="en-US" sz="2000">
                <a:solidFill>
                  <a:srgbClr val="6C757D"/>
                </a:solidFill>
                <a:latin typeface="Malgun Gothic" panose="020B0503020000020004" pitchFamily="50" charset="-127"/>
              </a:rPr>
              <a:t>강약 조절</a:t>
            </a:r>
            <a:r>
              <a:rPr lang="en-US" altLang="ko-KR" sz="2000">
                <a:solidFill>
                  <a:srgbClr val="6C757D"/>
                </a:solidFill>
                <a:latin typeface="Malgun Gothic" panose="020B0503020000020004" pitchFamily="50" charset="-127"/>
              </a:rPr>
              <a:t>' </a:t>
            </a:r>
            <a:r>
              <a:rPr lang="ko-KR" altLang="en-US" sz="2000">
                <a:solidFill>
                  <a:srgbClr val="6C757D"/>
                </a:solidFill>
                <a:latin typeface="Malgun Gothic" panose="020B0503020000020004" pitchFamily="50" charset="-127"/>
              </a:rPr>
              <a:t>중심의 구성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CB46F2D2-ABEE-3A3D-0987-D9481E1C0219}"/>
              </a:ext>
            </a:extLst>
          </p:cNvPr>
          <p:cNvCxnSpPr/>
          <p:nvPr/>
        </p:nvCxnSpPr>
        <p:spPr>
          <a:xfrm>
            <a:off x="762000" y="1600200"/>
            <a:ext cx="10668000" cy="0"/>
          </a:xfrm>
          <a:prstGeom prst="line">
            <a:avLst/>
          </a:prstGeom>
          <a:ln w="19050">
            <a:solidFill>
              <a:srgbClr val="F1F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3CDD3F85-84FC-985C-FDEA-9129E79B5FC5}"/>
              </a:ext>
            </a:extLst>
          </p:cNvPr>
          <p:cNvSpPr/>
          <p:nvPr/>
        </p:nvSpPr>
        <p:spPr>
          <a:xfrm>
            <a:off x="762000" y="2143125"/>
            <a:ext cx="10668000" cy="5905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626DAA1F-245C-D7CE-2630-6E0B8076DFB4}"/>
              </a:ext>
            </a:extLst>
          </p:cNvPr>
          <p:cNvSpPr/>
          <p:nvPr/>
        </p:nvSpPr>
        <p:spPr>
          <a:xfrm>
            <a:off x="1000125" y="2247900"/>
            <a:ext cx="876300" cy="361950"/>
          </a:xfrm>
          <a:prstGeom prst="roundRect">
            <a:avLst/>
          </a:prstGeom>
          <a:solidFill>
            <a:srgbClr val="EF50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7150" rtlCol="0" anchor="ctr"/>
          <a:lstStyle/>
          <a:p>
            <a:pPr algn="ctr"/>
            <a:r>
              <a:rPr lang="en-US" altLang="ko-KR" sz="1600" b="1">
                <a:solidFill>
                  <a:srgbClr val="FFFFFF"/>
                </a:solidFill>
                <a:latin typeface="Malgun Gothic" panose="020B0503020000020004" pitchFamily="50" charset="-127"/>
              </a:rPr>
              <a:t>3 min</a:t>
            </a:r>
            <a:endParaRPr lang="ko-KR" altLang="en-US" sz="16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99C890-0E91-9FDD-CC37-E40E1263AE5A}"/>
              </a:ext>
            </a:extLst>
          </p:cNvPr>
          <p:cNvSpPr txBox="1"/>
          <p:nvPr/>
        </p:nvSpPr>
        <p:spPr>
          <a:xfrm>
            <a:off x="2095500" y="2276475"/>
            <a:ext cx="885825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2200" b="1">
                <a:solidFill>
                  <a:srgbClr val="2D3436"/>
                </a:solidFill>
                <a:latin typeface="Malgun Gothic" panose="020B0503020000020004" pitchFamily="50" charset="-127"/>
              </a:rPr>
              <a:t>Part 1. 1Q Snapshot (Quick Recap) - </a:t>
            </a:r>
            <a:r>
              <a:rPr lang="ko-KR" altLang="en-US" sz="2200" b="1">
                <a:solidFill>
                  <a:srgbClr val="2D3436"/>
                </a:solidFill>
                <a:latin typeface="Malgun Gothic" panose="020B0503020000020004" pitchFamily="50" charset="-127"/>
              </a:rPr>
              <a:t>가볍게 훑기</a:t>
            </a: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CDC3229-EA0A-3056-7BD6-A544114092E8}"/>
              </a:ext>
            </a:extLst>
          </p:cNvPr>
          <p:cNvSpPr/>
          <p:nvPr/>
        </p:nvSpPr>
        <p:spPr>
          <a:xfrm>
            <a:off x="762000" y="2905125"/>
            <a:ext cx="10668000" cy="59055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F50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7BC126E5-095D-CC33-A486-BC638B6D2128}"/>
              </a:ext>
            </a:extLst>
          </p:cNvPr>
          <p:cNvSpPr/>
          <p:nvPr/>
        </p:nvSpPr>
        <p:spPr>
          <a:xfrm>
            <a:off x="1000125" y="3009900"/>
            <a:ext cx="876300" cy="361950"/>
          </a:xfrm>
          <a:prstGeom prst="roundRect">
            <a:avLst/>
          </a:prstGeom>
          <a:solidFill>
            <a:srgbClr val="EF50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7150" rtlCol="0" anchor="ctr"/>
          <a:lstStyle/>
          <a:p>
            <a:pPr algn="ctr"/>
            <a:r>
              <a:rPr lang="en-US" altLang="ko-KR" sz="1600" b="1">
                <a:solidFill>
                  <a:srgbClr val="FFFFFF"/>
                </a:solidFill>
                <a:latin typeface="Malgun Gothic" panose="020B0503020000020004" pitchFamily="50" charset="-127"/>
              </a:rPr>
              <a:t>10 min</a:t>
            </a:r>
            <a:endParaRPr lang="ko-KR" altLang="en-US" sz="16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887366-27AF-3260-874C-F03A49848CEB}"/>
              </a:ext>
            </a:extLst>
          </p:cNvPr>
          <p:cNvSpPr txBox="1"/>
          <p:nvPr/>
        </p:nvSpPr>
        <p:spPr>
          <a:xfrm>
            <a:off x="2095500" y="3038475"/>
            <a:ext cx="885825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2200" b="1">
                <a:solidFill>
                  <a:srgbClr val="2D3436"/>
                </a:solidFill>
                <a:latin typeface="Malgun Gothic" panose="020B0503020000020004" pitchFamily="50" charset="-127"/>
              </a:rPr>
              <a:t>Part 2. Deep Dive: </a:t>
            </a:r>
            <a:r>
              <a:rPr lang="ko-KR" altLang="en-US" sz="2200" b="1">
                <a:solidFill>
                  <a:srgbClr val="2D3436"/>
                </a:solidFill>
                <a:latin typeface="Malgun Gothic" panose="020B0503020000020004" pitchFamily="50" charset="-127"/>
              </a:rPr>
              <a:t>성장 공유 </a:t>
            </a:r>
            <a:r>
              <a:rPr lang="en-US" altLang="ko-KR" sz="2200" b="1">
                <a:solidFill>
                  <a:srgbClr val="2D3436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2200" b="1">
                <a:solidFill>
                  <a:srgbClr val="2D3436"/>
                </a:solidFill>
                <a:latin typeface="Malgun Gothic" panose="020B0503020000020004" pitchFamily="50" charset="-127"/>
              </a:rPr>
              <a:t>북토크 </a:t>
            </a:r>
            <a:r>
              <a:rPr lang="en-US" altLang="ko-KR" sz="2200" b="1">
                <a:solidFill>
                  <a:srgbClr val="2D3436"/>
                </a:solidFill>
                <a:latin typeface="Malgun Gothic" panose="020B0503020000020004" pitchFamily="50" charset="-127"/>
              </a:rPr>
              <a:t>&amp; </a:t>
            </a:r>
            <a:r>
              <a:rPr lang="ko-KR" altLang="en-US" sz="2200" b="1">
                <a:solidFill>
                  <a:srgbClr val="2D3436"/>
                </a:solidFill>
                <a:latin typeface="Malgun Gothic" panose="020B0503020000020004" pitchFamily="50" charset="-127"/>
              </a:rPr>
              <a:t>데브 오션</a:t>
            </a:r>
            <a:r>
              <a:rPr lang="en-US" altLang="ko-KR" sz="2200" b="1">
                <a:solidFill>
                  <a:srgbClr val="2D3436"/>
                </a:solidFill>
                <a:latin typeface="Malgun Gothic" panose="020B0503020000020004" pitchFamily="50" charset="-127"/>
              </a:rPr>
              <a:t>) - </a:t>
            </a:r>
            <a:r>
              <a:rPr lang="ko-KR" altLang="en-US" sz="2200" b="1">
                <a:solidFill>
                  <a:srgbClr val="2D3436"/>
                </a:solidFill>
                <a:latin typeface="Malgun Gothic" panose="020B0503020000020004" pitchFamily="50" charset="-127"/>
              </a:rPr>
              <a:t>핵심 집중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388EDEE4-6172-05BE-9B11-35038245EFCF}"/>
              </a:ext>
            </a:extLst>
          </p:cNvPr>
          <p:cNvSpPr/>
          <p:nvPr/>
        </p:nvSpPr>
        <p:spPr>
          <a:xfrm>
            <a:off x="762000" y="3667125"/>
            <a:ext cx="10668000" cy="5905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18D25D8B-15E8-237B-EC4F-4B5B2393B5A4}"/>
              </a:ext>
            </a:extLst>
          </p:cNvPr>
          <p:cNvSpPr/>
          <p:nvPr/>
        </p:nvSpPr>
        <p:spPr>
          <a:xfrm>
            <a:off x="1000125" y="3771900"/>
            <a:ext cx="876300" cy="361950"/>
          </a:xfrm>
          <a:prstGeom prst="roundRect">
            <a:avLst/>
          </a:prstGeom>
          <a:solidFill>
            <a:srgbClr val="EF50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57150" rtlCol="0" anchor="ctr"/>
          <a:lstStyle/>
          <a:p>
            <a:pPr algn="ctr"/>
            <a:r>
              <a:rPr lang="en-US" altLang="ko-KR" sz="1600" b="1">
                <a:solidFill>
                  <a:srgbClr val="FFFFFF"/>
                </a:solidFill>
                <a:latin typeface="Malgun Gothic" panose="020B0503020000020004" pitchFamily="50" charset="-127"/>
              </a:rPr>
              <a:t>5 min</a:t>
            </a:r>
            <a:endParaRPr lang="ko-KR" altLang="en-US" sz="16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081A42-2FBE-273C-0AAE-EA18E3968A1B}"/>
              </a:ext>
            </a:extLst>
          </p:cNvPr>
          <p:cNvSpPr txBox="1"/>
          <p:nvPr/>
        </p:nvSpPr>
        <p:spPr>
          <a:xfrm>
            <a:off x="2095500" y="3800475"/>
            <a:ext cx="885825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2200" b="1">
                <a:solidFill>
                  <a:srgbClr val="2D3436"/>
                </a:solidFill>
                <a:latin typeface="Malgun Gothic" panose="020B0503020000020004" pitchFamily="50" charset="-127"/>
              </a:rPr>
              <a:t>Part 3. Book Identity &amp; Future - </a:t>
            </a:r>
            <a:r>
              <a:rPr lang="ko-KR" altLang="en-US" sz="2200" b="1">
                <a:solidFill>
                  <a:srgbClr val="2D3436"/>
                </a:solidFill>
                <a:latin typeface="Malgun Gothic" panose="020B0503020000020004" pitchFamily="50" charset="-127"/>
              </a:rPr>
              <a:t>시스템 안내 및 </a:t>
            </a:r>
            <a:r>
              <a:rPr lang="en-US" altLang="ko-KR" sz="2200" b="1">
                <a:solidFill>
                  <a:srgbClr val="2D3436"/>
                </a:solidFill>
                <a:latin typeface="Malgun Gothic" panose="020B0503020000020004" pitchFamily="50" charset="-127"/>
              </a:rPr>
              <a:t>2Q </a:t>
            </a:r>
            <a:r>
              <a:rPr lang="ko-KR" altLang="en-US" sz="2200" b="1">
                <a:solidFill>
                  <a:srgbClr val="2D3436"/>
                </a:solidFill>
                <a:latin typeface="Malgun Gothic" panose="020B0503020000020004" pitchFamily="50" charset="-127"/>
              </a:rPr>
              <a:t>예고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708A2E-55B9-9C9C-6C01-0E9DA19CA282}"/>
              </a:ext>
            </a:extLst>
          </p:cNvPr>
          <p:cNvSpPr txBox="1"/>
          <p:nvPr/>
        </p:nvSpPr>
        <p:spPr>
          <a:xfrm>
            <a:off x="762000" y="4524375"/>
            <a:ext cx="5905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b="1">
                <a:solidFill>
                  <a:srgbClr val="EF5030"/>
                </a:solidFill>
                <a:latin typeface="Malgun Gothic" panose="020B0503020000020004" pitchFamily="50" charset="-127"/>
              </a:rPr>
              <a:t>※ </a:t>
            </a:r>
            <a:r>
              <a:rPr lang="ko-KR" altLang="en-US" b="1">
                <a:solidFill>
                  <a:srgbClr val="EF5030"/>
                </a:solidFill>
                <a:latin typeface="Malgun Gothic" panose="020B0503020000020004" pitchFamily="50" charset="-127"/>
              </a:rPr>
              <a:t>총 </a:t>
            </a:r>
            <a:r>
              <a:rPr lang="en-US" altLang="ko-KR" b="1">
                <a:solidFill>
                  <a:srgbClr val="EF5030"/>
                </a:solidFill>
                <a:latin typeface="Malgun Gothic" panose="020B0503020000020004" pitchFamily="50" charset="-127"/>
              </a:rPr>
              <a:t>20</a:t>
            </a:r>
            <a:r>
              <a:rPr lang="ko-KR" altLang="en-US" b="1">
                <a:solidFill>
                  <a:srgbClr val="EF5030"/>
                </a:solidFill>
                <a:latin typeface="Malgun Gothic" panose="020B0503020000020004" pitchFamily="50" charset="-127"/>
              </a:rPr>
              <a:t>분 내외 진행으로 구성원 피로도 최소화</a:t>
            </a:r>
          </a:p>
        </p:txBody>
      </p:sp>
    </p:spTree>
    <p:extLst>
      <p:ext uri="{BB962C8B-B14F-4D97-AF65-F5344CB8AC3E}">
        <p14:creationId xmlns:p14="http://schemas.microsoft.com/office/powerpoint/2010/main" val="303985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98007E5-56D7-5551-781A-DA4373ED8EE6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F50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64496409-FCC1-0BB2-716B-1BD93C30B74A}"/>
              </a:ext>
            </a:extLst>
          </p:cNvPr>
          <p:cNvSpPr/>
          <p:nvPr/>
        </p:nvSpPr>
        <p:spPr>
          <a:xfrm>
            <a:off x="9620250" y="285750"/>
            <a:ext cx="1809750" cy="400050"/>
          </a:xfrm>
          <a:prstGeom prst="roundRect">
            <a:avLst/>
          </a:prstGeom>
          <a:solidFill>
            <a:srgbClr val="FFF1F0"/>
          </a:solidFill>
          <a:ln w="15875">
            <a:solidFill>
              <a:srgbClr val="EF50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7150" tIns="66675" rtlCol="0" anchor="ctr">
            <a:noAutofit/>
          </a:bodyPr>
          <a:lstStyle/>
          <a:p>
            <a:pPr algn="ctr"/>
            <a:r>
              <a:rPr lang="ko-KR" altLang="en-US" sz="1400" b="1">
                <a:solidFill>
                  <a:srgbClr val="EF5030"/>
                </a:solidFill>
                <a:latin typeface="Malgun Gothic" panose="020B0503020000020004" pitchFamily="50" charset="-127"/>
              </a:rPr>
              <a:t>기획 의도</a:t>
            </a:r>
            <a:r>
              <a:rPr lang="en-US" altLang="ko-KR" sz="1400" b="1">
                <a:solidFill>
                  <a:srgbClr val="EF5030"/>
                </a:solidFill>
                <a:latin typeface="Malgun Gothic" panose="020B0503020000020004" pitchFamily="50" charset="-127"/>
              </a:rPr>
              <a:t>: Lite Recap</a:t>
            </a:r>
            <a:endParaRPr lang="ko-KR" altLang="en-US" sz="1400" b="1">
              <a:solidFill>
                <a:srgbClr val="EF503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F3CC00-5D98-318C-472B-32B537AB9438}"/>
              </a:ext>
            </a:extLst>
          </p:cNvPr>
          <p:cNvSpPr txBox="1"/>
          <p:nvPr/>
        </p:nvSpPr>
        <p:spPr>
          <a:xfrm>
            <a:off x="762000" y="704850"/>
            <a:ext cx="8572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3800" b="1">
                <a:solidFill>
                  <a:srgbClr val="EF5030"/>
                </a:solidFill>
                <a:latin typeface="Malgun Gothic" panose="020B0503020000020004" pitchFamily="50" charset="-127"/>
              </a:rPr>
              <a:t>Part 1. 1Q Snapshot </a:t>
            </a:r>
            <a:r>
              <a:rPr lang="ko-KR" altLang="en-US" sz="3800" b="1">
                <a:solidFill>
                  <a:srgbClr val="EF5030"/>
                </a:solidFill>
                <a:latin typeface="Malgun Gothic" panose="020B0503020000020004" pitchFamily="50" charset="-127"/>
              </a:rPr>
              <a:t>운영 전략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226F84-D9ED-3589-611D-19B66AFCA0D1}"/>
              </a:ext>
            </a:extLst>
          </p:cNvPr>
          <p:cNvSpPr txBox="1"/>
          <p:nvPr/>
        </p:nvSpPr>
        <p:spPr>
          <a:xfrm>
            <a:off x="762000" y="1123950"/>
            <a:ext cx="9334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000">
                <a:solidFill>
                  <a:srgbClr val="6C757D"/>
                </a:solidFill>
                <a:latin typeface="Malgun Gothic" panose="020B0503020000020004" pitchFamily="50" charset="-127"/>
              </a:rPr>
              <a:t>해커톤</a:t>
            </a:r>
            <a:r>
              <a:rPr lang="en-US" altLang="ko-KR" sz="2000">
                <a:solidFill>
                  <a:srgbClr val="6C757D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2000">
                <a:solidFill>
                  <a:srgbClr val="6C757D"/>
                </a:solidFill>
                <a:latin typeface="Malgun Gothic" panose="020B0503020000020004" pitchFamily="50" charset="-127"/>
              </a:rPr>
              <a:t>삼삼오오</a:t>
            </a:r>
            <a:r>
              <a:rPr lang="en-US" altLang="ko-KR" sz="2000">
                <a:solidFill>
                  <a:srgbClr val="6C757D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2000">
                <a:solidFill>
                  <a:srgbClr val="6C757D"/>
                </a:solidFill>
                <a:latin typeface="Malgun Gothic" panose="020B0503020000020004" pitchFamily="50" charset="-127"/>
              </a:rPr>
              <a:t>싱크홀 </a:t>
            </a:r>
            <a:r>
              <a:rPr lang="en-US" altLang="ko-KR" sz="2000">
                <a:solidFill>
                  <a:srgbClr val="6C757D"/>
                </a:solidFill>
                <a:latin typeface="Malgun Gothic" panose="020B0503020000020004" pitchFamily="50" charset="-127"/>
              </a:rPr>
              <a:t>- "</a:t>
            </a:r>
            <a:r>
              <a:rPr lang="ko-KR" altLang="en-US" sz="2000">
                <a:solidFill>
                  <a:srgbClr val="6C757D"/>
                </a:solidFill>
                <a:latin typeface="Malgun Gothic" panose="020B0503020000020004" pitchFamily="50" charset="-127"/>
              </a:rPr>
              <a:t>우리는 이런 즐거운 추억을 쌓았습니다</a:t>
            </a:r>
            <a:r>
              <a:rPr lang="en-US" altLang="ko-KR" sz="2000">
                <a:solidFill>
                  <a:srgbClr val="6C757D"/>
                </a:solidFill>
                <a:latin typeface="Malgun Gothic" panose="020B0503020000020004" pitchFamily="50" charset="-127"/>
              </a:rPr>
              <a:t>"</a:t>
            </a:r>
            <a:endParaRPr lang="ko-KR" altLang="en-US" sz="2000">
              <a:solidFill>
                <a:srgbClr val="6C757D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5DB2D863-D461-9F58-34D3-88FADBA2C7A9}"/>
              </a:ext>
            </a:extLst>
          </p:cNvPr>
          <p:cNvCxnSpPr/>
          <p:nvPr/>
        </p:nvCxnSpPr>
        <p:spPr>
          <a:xfrm>
            <a:off x="762000" y="1600200"/>
            <a:ext cx="10668000" cy="0"/>
          </a:xfrm>
          <a:prstGeom prst="line">
            <a:avLst/>
          </a:prstGeom>
          <a:ln w="19050">
            <a:solidFill>
              <a:srgbClr val="F1F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2C05861-5823-0E37-6DB4-BE614DD2F9F4}"/>
              </a:ext>
            </a:extLst>
          </p:cNvPr>
          <p:cNvSpPr txBox="1"/>
          <p:nvPr/>
        </p:nvSpPr>
        <p:spPr>
          <a:xfrm>
            <a:off x="952500" y="2286000"/>
            <a:ext cx="1905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800" b="1">
                <a:solidFill>
                  <a:srgbClr val="2D3436"/>
                </a:solidFill>
                <a:latin typeface="Malgun Gothic" panose="020B0503020000020004" pitchFamily="50" charset="-127"/>
              </a:rPr>
              <a:t>발표 방식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A8EEBF-AA68-5CF6-4CEA-A24B547B5A62}"/>
              </a:ext>
            </a:extLst>
          </p:cNvPr>
          <p:cNvSpPr txBox="1"/>
          <p:nvPr/>
        </p:nvSpPr>
        <p:spPr>
          <a:xfrm>
            <a:off x="952500" y="2714625"/>
            <a:ext cx="4476750" cy="1754326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2000">
                <a:solidFill>
                  <a:srgbClr val="4B4B4B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2000">
                <a:solidFill>
                  <a:srgbClr val="4B4B4B"/>
                </a:solidFill>
                <a:latin typeface="Malgun Gothic" panose="020B0503020000020004" pitchFamily="50" charset="-127"/>
              </a:rPr>
              <a:t>텍스트 최소화</a:t>
            </a:r>
            <a:r>
              <a:rPr lang="en-US" altLang="ko-KR" sz="2000">
                <a:solidFill>
                  <a:srgbClr val="4B4B4B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2000">
                <a:solidFill>
                  <a:srgbClr val="4B4B4B"/>
                </a:solidFill>
                <a:latin typeface="Malgun Gothic" panose="020B0503020000020004" pitchFamily="50" charset="-127"/>
              </a:rPr>
              <a:t>전면 사진 중심의 슬라이드 구성</a:t>
            </a:r>
          </a:p>
          <a:p>
            <a:r>
              <a:rPr lang="en-US" altLang="ko-KR" sz="2000">
                <a:solidFill>
                  <a:srgbClr val="4B4B4B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2000">
                <a:solidFill>
                  <a:srgbClr val="4B4B4B"/>
                </a:solidFill>
                <a:latin typeface="Malgun Gothic" panose="020B0503020000020004" pitchFamily="50" charset="-127"/>
              </a:rPr>
              <a:t>담당자가 </a:t>
            </a:r>
            <a:r>
              <a:rPr lang="en-US" altLang="ko-KR" sz="2000">
                <a:solidFill>
                  <a:srgbClr val="4B4B4B"/>
                </a:solidFill>
                <a:latin typeface="Malgun Gothic" panose="020B0503020000020004" pitchFamily="50" charset="-127"/>
              </a:rPr>
              <a:t>1</a:t>
            </a:r>
            <a:r>
              <a:rPr lang="ko-KR" altLang="en-US" sz="2000">
                <a:solidFill>
                  <a:srgbClr val="4B4B4B"/>
                </a:solidFill>
                <a:latin typeface="Malgun Gothic" panose="020B0503020000020004" pitchFamily="50" charset="-127"/>
              </a:rPr>
              <a:t>분 내외로 핵심 키워드만 언급하며 빠르게 전환</a:t>
            </a:r>
          </a:p>
          <a:p>
            <a:r>
              <a:rPr lang="en-US" altLang="ko-KR" sz="2000">
                <a:solidFill>
                  <a:srgbClr val="4B4B4B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 sz="2000">
                <a:solidFill>
                  <a:srgbClr val="4B4B4B"/>
                </a:solidFill>
                <a:latin typeface="Malgun Gothic" panose="020B0503020000020004" pitchFamily="50" charset="-127"/>
              </a:rPr>
              <a:t>현장의 에너지와 열기를 리마인드 하는 데 집중</a:t>
            </a: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9B47C8D-9816-ACD4-5D22-5F6FA864C992}"/>
              </a:ext>
            </a:extLst>
          </p:cNvPr>
          <p:cNvSpPr/>
          <p:nvPr/>
        </p:nvSpPr>
        <p:spPr>
          <a:xfrm>
            <a:off x="6667500" y="2333625"/>
            <a:ext cx="4000500" cy="1905000"/>
          </a:xfrm>
          <a:prstGeom prst="roundRect">
            <a:avLst/>
          </a:prstGeom>
          <a:solidFill>
            <a:srgbClr val="FFF1F0"/>
          </a:solidFill>
          <a:ln w="19050">
            <a:solidFill>
              <a:srgbClr val="EF503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6BF670-833B-4A11-FBE3-043F8E5AC74C}"/>
              </a:ext>
            </a:extLst>
          </p:cNvPr>
          <p:cNvSpPr txBox="1"/>
          <p:nvPr/>
        </p:nvSpPr>
        <p:spPr>
          <a:xfrm>
            <a:off x="6858000" y="2524125"/>
            <a:ext cx="3619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ko-KR" altLang="en-US" sz="2400" b="1">
                <a:solidFill>
                  <a:srgbClr val="EF5030"/>
                </a:solidFill>
                <a:latin typeface="Malgun Gothic" panose="020B0503020000020004" pitchFamily="50" charset="-127"/>
              </a:rPr>
              <a:t>핵심 키워드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B6A44D1-E0E8-736A-8467-9598EBEBD11E}"/>
              </a:ext>
            </a:extLst>
          </p:cNvPr>
          <p:cNvSpPr txBox="1"/>
          <p:nvPr/>
        </p:nvSpPr>
        <p:spPr>
          <a:xfrm>
            <a:off x="6858000" y="2924175"/>
            <a:ext cx="3619500" cy="64633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2000">
                <a:solidFill>
                  <a:srgbClr val="2D3436"/>
                </a:solidFill>
                <a:latin typeface="Malgun Gothic" panose="020B0503020000020004" pitchFamily="50" charset="-127"/>
              </a:rPr>
              <a:t>#</a:t>
            </a:r>
            <a:r>
              <a:rPr lang="ko-KR" altLang="en-US" sz="2000">
                <a:solidFill>
                  <a:srgbClr val="2D3436"/>
                </a:solidFill>
                <a:latin typeface="Malgun Gothic" panose="020B0503020000020004" pitchFamily="50" charset="-127"/>
              </a:rPr>
              <a:t>몰입</a:t>
            </a:r>
            <a:r>
              <a:rPr lang="en-US" altLang="ko-KR" sz="2000">
                <a:solidFill>
                  <a:srgbClr val="2D3436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2000">
                <a:solidFill>
                  <a:srgbClr val="2D3436"/>
                </a:solidFill>
                <a:latin typeface="Malgun Gothic" panose="020B0503020000020004" pitchFamily="50" charset="-127"/>
              </a:rPr>
              <a:t>해커톤</a:t>
            </a:r>
            <a:r>
              <a:rPr lang="en-US" altLang="ko-KR" sz="2000">
                <a:solidFill>
                  <a:srgbClr val="2D3436"/>
                </a:solidFill>
                <a:latin typeface="Malgun Gothic" panose="020B0503020000020004" pitchFamily="50" charset="-127"/>
              </a:rPr>
              <a:t>) #</a:t>
            </a:r>
            <a:r>
              <a:rPr lang="ko-KR" altLang="en-US" sz="2000">
                <a:solidFill>
                  <a:srgbClr val="2D3436"/>
                </a:solidFill>
                <a:latin typeface="Malgun Gothic" panose="020B0503020000020004" pitchFamily="50" charset="-127"/>
              </a:rPr>
              <a:t>연결</a:t>
            </a:r>
            <a:r>
              <a:rPr lang="en-US" altLang="ko-KR" sz="2000">
                <a:solidFill>
                  <a:srgbClr val="2D3436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2000">
                <a:solidFill>
                  <a:srgbClr val="2D3436"/>
                </a:solidFill>
                <a:latin typeface="Malgun Gothic" panose="020B0503020000020004" pitchFamily="50" charset="-127"/>
              </a:rPr>
              <a:t>삼삼오오</a:t>
            </a:r>
            <a:r>
              <a:rPr lang="en-US" altLang="ko-KR" sz="2000">
                <a:solidFill>
                  <a:srgbClr val="2D3436"/>
                </a:solidFill>
                <a:latin typeface="Malgun Gothic" panose="020B0503020000020004" pitchFamily="50" charset="-127"/>
              </a:rPr>
              <a:t>) #</a:t>
            </a:r>
            <a:r>
              <a:rPr lang="ko-KR" altLang="en-US" sz="2000">
                <a:solidFill>
                  <a:srgbClr val="2D3436"/>
                </a:solidFill>
                <a:latin typeface="Malgun Gothic" panose="020B0503020000020004" pitchFamily="50" charset="-127"/>
              </a:rPr>
              <a:t>방향</a:t>
            </a:r>
            <a:r>
              <a:rPr lang="en-US" altLang="ko-KR" sz="2000">
                <a:solidFill>
                  <a:srgbClr val="2D3436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2000">
                <a:solidFill>
                  <a:srgbClr val="2D3436"/>
                </a:solidFill>
                <a:latin typeface="Malgun Gothic" panose="020B0503020000020004" pitchFamily="50" charset="-127"/>
              </a:rPr>
              <a:t>싱크홀</a:t>
            </a:r>
            <a:r>
              <a:rPr lang="en-US" altLang="ko-KR" sz="2000">
                <a:solidFill>
                  <a:srgbClr val="2D3436"/>
                </a:solidFill>
                <a:latin typeface="Malgun Gothic" panose="020B0503020000020004" pitchFamily="50" charset="-127"/>
              </a:rPr>
              <a:t>)</a:t>
            </a:r>
            <a:endParaRPr lang="ko-KR" altLang="en-US" sz="2000">
              <a:solidFill>
                <a:srgbClr val="2D3436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67070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E843D82-7AF6-2BF9-A782-96ECA58B9463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F50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7F5F9B27-CAAA-CB70-3327-BC093C3302CE}"/>
              </a:ext>
            </a:extLst>
          </p:cNvPr>
          <p:cNvSpPr/>
          <p:nvPr/>
        </p:nvSpPr>
        <p:spPr>
          <a:xfrm>
            <a:off x="9620250" y="285750"/>
            <a:ext cx="1809750" cy="400050"/>
          </a:xfrm>
          <a:prstGeom prst="roundRect">
            <a:avLst/>
          </a:prstGeom>
          <a:solidFill>
            <a:srgbClr val="FFF1F0"/>
          </a:solidFill>
          <a:ln w="15875">
            <a:solidFill>
              <a:srgbClr val="EF50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7150" tIns="66675" rtlCol="0" anchor="ctr">
            <a:noAutofit/>
          </a:bodyPr>
          <a:lstStyle/>
          <a:p>
            <a:pPr algn="ctr"/>
            <a:r>
              <a:rPr lang="ko-KR" altLang="en-US" sz="1400" b="1">
                <a:solidFill>
                  <a:srgbClr val="EF5030"/>
                </a:solidFill>
                <a:latin typeface="Malgun Gothic" panose="020B0503020000020004" pitchFamily="50" charset="-127"/>
              </a:rPr>
              <a:t>기획 의도</a:t>
            </a:r>
            <a:r>
              <a:rPr lang="en-US" altLang="ko-KR" sz="1400" b="1">
                <a:solidFill>
                  <a:srgbClr val="EF5030"/>
                </a:solidFill>
                <a:latin typeface="Malgun Gothic" panose="020B0503020000020004" pitchFamily="50" charset="-127"/>
              </a:rPr>
              <a:t>: Deep Dive</a:t>
            </a:r>
            <a:endParaRPr lang="ko-KR" altLang="en-US" sz="1400" b="1">
              <a:solidFill>
                <a:srgbClr val="EF503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3C1F53-E2C2-81C8-5EAB-47532436AA1D}"/>
              </a:ext>
            </a:extLst>
          </p:cNvPr>
          <p:cNvSpPr txBox="1"/>
          <p:nvPr/>
        </p:nvSpPr>
        <p:spPr>
          <a:xfrm>
            <a:off x="762000" y="704850"/>
            <a:ext cx="8572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3800" b="1">
                <a:solidFill>
                  <a:srgbClr val="EF5030"/>
                </a:solidFill>
                <a:latin typeface="Malgun Gothic" panose="020B0503020000020004" pitchFamily="50" charset="-127"/>
              </a:rPr>
              <a:t>Part 2-1. </a:t>
            </a:r>
            <a:r>
              <a:rPr lang="ko-KR" altLang="en-US" sz="3800" b="1">
                <a:solidFill>
                  <a:srgbClr val="EF5030"/>
                </a:solidFill>
                <a:latin typeface="Malgun Gothic" panose="020B0503020000020004" pitchFamily="50" charset="-127"/>
              </a:rPr>
              <a:t>팀별 북토크 운영 전략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570C4B-8CA8-9979-D42E-52BD700C1C5F}"/>
              </a:ext>
            </a:extLst>
          </p:cNvPr>
          <p:cNvSpPr txBox="1"/>
          <p:nvPr/>
        </p:nvSpPr>
        <p:spPr>
          <a:xfrm>
            <a:off x="762000" y="1123950"/>
            <a:ext cx="9334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000">
                <a:solidFill>
                  <a:srgbClr val="6C757D"/>
                </a:solidFill>
                <a:latin typeface="Malgun Gothic" panose="020B0503020000020004" pitchFamily="50" charset="-127"/>
              </a:rPr>
              <a:t>단순 독서 모임을 넘어 </a:t>
            </a:r>
            <a:r>
              <a:rPr lang="en-US" altLang="ko-KR" sz="2000">
                <a:solidFill>
                  <a:srgbClr val="6C757D"/>
                </a:solidFill>
                <a:latin typeface="Malgun Gothic" panose="020B0503020000020004" pitchFamily="50" charset="-127"/>
              </a:rPr>
              <a:t>'</a:t>
            </a:r>
            <a:r>
              <a:rPr lang="ko-KR" altLang="en-US" sz="2000">
                <a:solidFill>
                  <a:srgbClr val="6C757D"/>
                </a:solidFill>
                <a:latin typeface="Malgun Gothic" panose="020B0503020000020004" pitchFamily="50" charset="-127"/>
              </a:rPr>
              <a:t>팀의 변화</a:t>
            </a:r>
            <a:r>
              <a:rPr lang="en-US" altLang="ko-KR" sz="2000">
                <a:solidFill>
                  <a:srgbClr val="6C757D"/>
                </a:solidFill>
                <a:latin typeface="Malgun Gothic" panose="020B0503020000020004" pitchFamily="50" charset="-127"/>
              </a:rPr>
              <a:t>'</a:t>
            </a:r>
            <a:r>
              <a:rPr lang="ko-KR" altLang="en-US" sz="2000">
                <a:solidFill>
                  <a:srgbClr val="6C757D"/>
                </a:solidFill>
                <a:latin typeface="Malgun Gothic" panose="020B0503020000020004" pitchFamily="50" charset="-127"/>
              </a:rPr>
              <a:t>를 끌어낸 사례 공유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0766E3DC-9A2F-1A19-7F4A-CC6B556F7B35}"/>
              </a:ext>
            </a:extLst>
          </p:cNvPr>
          <p:cNvCxnSpPr/>
          <p:nvPr/>
        </p:nvCxnSpPr>
        <p:spPr>
          <a:xfrm>
            <a:off x="762000" y="1600200"/>
            <a:ext cx="10668000" cy="0"/>
          </a:xfrm>
          <a:prstGeom prst="line">
            <a:avLst/>
          </a:prstGeom>
          <a:ln w="19050">
            <a:solidFill>
              <a:srgbClr val="F1F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EB4534A1-8E17-DFAA-3255-B0ACAAAD0A12}"/>
              </a:ext>
            </a:extLst>
          </p:cNvPr>
          <p:cNvSpPr/>
          <p:nvPr/>
        </p:nvSpPr>
        <p:spPr>
          <a:xfrm>
            <a:off x="762000" y="2428875"/>
            <a:ext cx="3333750" cy="2095500"/>
          </a:xfrm>
          <a:prstGeom prst="roundRect">
            <a:avLst/>
          </a:prstGeom>
          <a:solidFill>
            <a:srgbClr val="F1F2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25DC2AE-4CB4-E6B4-38A8-1013D70E6975}"/>
              </a:ext>
            </a:extLst>
          </p:cNvPr>
          <p:cNvSpPr/>
          <p:nvPr/>
        </p:nvSpPr>
        <p:spPr>
          <a:xfrm>
            <a:off x="762000" y="2428875"/>
            <a:ext cx="47625" cy="2095500"/>
          </a:xfrm>
          <a:prstGeom prst="rect">
            <a:avLst/>
          </a:prstGeom>
          <a:solidFill>
            <a:srgbClr val="EF50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85C04D-E39F-056A-5A2F-B81147E0B448}"/>
              </a:ext>
            </a:extLst>
          </p:cNvPr>
          <p:cNvSpPr txBox="1"/>
          <p:nvPr/>
        </p:nvSpPr>
        <p:spPr>
          <a:xfrm>
            <a:off x="990600" y="2619375"/>
            <a:ext cx="287655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400" b="1">
                <a:solidFill>
                  <a:srgbClr val="2D3436"/>
                </a:solidFill>
                <a:latin typeface="Malgun Gothic" panose="020B0503020000020004" pitchFamily="50" charset="-127"/>
              </a:rPr>
              <a:t>무엇을 공유하나</a:t>
            </a:r>
            <a:r>
              <a:rPr lang="en-US" altLang="ko-KR" sz="2400" b="1">
                <a:solidFill>
                  <a:srgbClr val="2D3436"/>
                </a:solidFill>
                <a:latin typeface="Malgun Gothic" panose="020B0503020000020004" pitchFamily="50" charset="-127"/>
              </a:rPr>
              <a:t>?</a:t>
            </a:r>
            <a:endParaRPr lang="ko-KR" altLang="en-US" sz="2400" b="1">
              <a:solidFill>
                <a:srgbClr val="2D3436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4590CB-8594-F90A-1A29-4A2B51E83BEB}"/>
              </a:ext>
            </a:extLst>
          </p:cNvPr>
          <p:cNvSpPr txBox="1"/>
          <p:nvPr/>
        </p:nvSpPr>
        <p:spPr>
          <a:xfrm>
            <a:off x="990600" y="3000375"/>
            <a:ext cx="2876550" cy="120032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>
                <a:solidFill>
                  <a:srgbClr val="4B4B4B"/>
                </a:solidFill>
                <a:latin typeface="Malgun Gothic" panose="020B0503020000020004" pitchFamily="50" charset="-127"/>
              </a:rPr>
              <a:t>가장 활발하거나 독특한 방식으로 진행한 </a:t>
            </a:r>
            <a:r>
              <a:rPr lang="en-US" altLang="ko-KR">
                <a:solidFill>
                  <a:srgbClr val="4B4B4B"/>
                </a:solidFill>
                <a:latin typeface="Malgun Gothic" panose="020B0503020000020004" pitchFamily="50" charset="-127"/>
              </a:rPr>
              <a:t>1~2</a:t>
            </a:r>
            <a:r>
              <a:rPr lang="ko-KR" altLang="en-US">
                <a:solidFill>
                  <a:srgbClr val="4B4B4B"/>
                </a:solidFill>
                <a:latin typeface="Malgun Gothic" panose="020B0503020000020004" pitchFamily="50" charset="-127"/>
              </a:rPr>
              <a:t>개 팀의 사례를 구체적으로 소개 </a:t>
            </a:r>
            <a:r>
              <a:rPr lang="en-US" altLang="ko-KR">
                <a:solidFill>
                  <a:srgbClr val="4B4B4B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>
                <a:solidFill>
                  <a:srgbClr val="4B4B4B"/>
                </a:solidFill>
                <a:latin typeface="Malgun Gothic" panose="020B0503020000020004" pitchFamily="50" charset="-127"/>
              </a:rPr>
              <a:t>인사이트 중심</a:t>
            </a:r>
            <a:r>
              <a:rPr lang="en-US" altLang="ko-KR">
                <a:solidFill>
                  <a:srgbClr val="4B4B4B"/>
                </a:solidFill>
                <a:latin typeface="Malgun Gothic" panose="020B0503020000020004" pitchFamily="50" charset="-127"/>
              </a:rPr>
              <a:t>)</a:t>
            </a:r>
            <a:endParaRPr lang="ko-KR" altLang="en-US">
              <a:solidFill>
                <a:srgbClr val="4B4B4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BFB9C78E-ABBE-413E-12E0-462B3567ED37}"/>
              </a:ext>
            </a:extLst>
          </p:cNvPr>
          <p:cNvSpPr/>
          <p:nvPr/>
        </p:nvSpPr>
        <p:spPr>
          <a:xfrm>
            <a:off x="4429125" y="2428875"/>
            <a:ext cx="3333750" cy="2095500"/>
          </a:xfrm>
          <a:prstGeom prst="roundRect">
            <a:avLst/>
          </a:prstGeom>
          <a:solidFill>
            <a:srgbClr val="F1F2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D4971FE-6997-8794-5FDE-EBDA7A4557FE}"/>
              </a:ext>
            </a:extLst>
          </p:cNvPr>
          <p:cNvSpPr/>
          <p:nvPr/>
        </p:nvSpPr>
        <p:spPr>
          <a:xfrm>
            <a:off x="4429125" y="2428875"/>
            <a:ext cx="47625" cy="2095500"/>
          </a:xfrm>
          <a:prstGeom prst="rect">
            <a:avLst/>
          </a:prstGeom>
          <a:solidFill>
            <a:srgbClr val="EF50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13093C-BDB7-BC64-E556-DCD6CB69140D}"/>
              </a:ext>
            </a:extLst>
          </p:cNvPr>
          <p:cNvSpPr txBox="1"/>
          <p:nvPr/>
        </p:nvSpPr>
        <p:spPr>
          <a:xfrm>
            <a:off x="4657725" y="2619375"/>
            <a:ext cx="287655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400" b="1">
                <a:solidFill>
                  <a:srgbClr val="2D3436"/>
                </a:solidFill>
                <a:latin typeface="Malgun Gothic" panose="020B0503020000020004" pitchFamily="50" charset="-127"/>
              </a:rPr>
              <a:t>왜 중요한가</a:t>
            </a:r>
            <a:r>
              <a:rPr lang="en-US" altLang="ko-KR" sz="2400" b="1">
                <a:solidFill>
                  <a:srgbClr val="2D3436"/>
                </a:solidFill>
                <a:latin typeface="Malgun Gothic" panose="020B0503020000020004" pitchFamily="50" charset="-127"/>
              </a:rPr>
              <a:t>?</a:t>
            </a:r>
            <a:endParaRPr lang="ko-KR" altLang="en-US" sz="2400" b="1">
              <a:solidFill>
                <a:srgbClr val="2D3436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986288-67B8-6450-7D4B-D47E8EF41BA7}"/>
              </a:ext>
            </a:extLst>
          </p:cNvPr>
          <p:cNvSpPr txBox="1"/>
          <p:nvPr/>
        </p:nvSpPr>
        <p:spPr>
          <a:xfrm>
            <a:off x="4657725" y="3000375"/>
            <a:ext cx="2876550" cy="1200329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>
                <a:solidFill>
                  <a:srgbClr val="4B4B4B"/>
                </a:solidFill>
                <a:latin typeface="Malgun Gothic" panose="020B0503020000020004" pitchFamily="50" charset="-127"/>
              </a:rPr>
              <a:t>"</a:t>
            </a:r>
            <a:r>
              <a:rPr lang="ko-KR" altLang="en-US">
                <a:solidFill>
                  <a:srgbClr val="4B4B4B"/>
                </a:solidFill>
                <a:latin typeface="Malgun Gothic" panose="020B0503020000020004" pitchFamily="50" charset="-127"/>
              </a:rPr>
              <a:t>남들은 어떻게 읽나</a:t>
            </a:r>
            <a:r>
              <a:rPr lang="en-US" altLang="ko-KR">
                <a:solidFill>
                  <a:srgbClr val="4B4B4B"/>
                </a:solidFill>
                <a:latin typeface="Malgun Gothic" panose="020B0503020000020004" pitchFamily="50" charset="-127"/>
              </a:rPr>
              <a:t>?"</a:t>
            </a:r>
            <a:r>
              <a:rPr lang="ko-KR" altLang="en-US">
                <a:solidFill>
                  <a:srgbClr val="4B4B4B"/>
                </a:solidFill>
                <a:latin typeface="Malgun Gothic" panose="020B0503020000020004" pitchFamily="50" charset="-127"/>
              </a:rPr>
              <a:t>에 대한 궁금증 해소 및 타 팀의 좋은 방식을 벤치마킹할 기회 제공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C907D456-27E1-BF3E-B4B5-CFD9071D3DB8}"/>
              </a:ext>
            </a:extLst>
          </p:cNvPr>
          <p:cNvSpPr/>
          <p:nvPr/>
        </p:nvSpPr>
        <p:spPr>
          <a:xfrm>
            <a:off x="8096250" y="2428875"/>
            <a:ext cx="3333750" cy="2095500"/>
          </a:xfrm>
          <a:prstGeom prst="roundRect">
            <a:avLst/>
          </a:prstGeom>
          <a:solidFill>
            <a:srgbClr val="F1F2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77D6573-F4BC-4328-479C-39D7F2FA7A49}"/>
              </a:ext>
            </a:extLst>
          </p:cNvPr>
          <p:cNvSpPr/>
          <p:nvPr/>
        </p:nvSpPr>
        <p:spPr>
          <a:xfrm>
            <a:off x="8096250" y="2428875"/>
            <a:ext cx="47625" cy="2095500"/>
          </a:xfrm>
          <a:prstGeom prst="rect">
            <a:avLst/>
          </a:prstGeom>
          <a:solidFill>
            <a:srgbClr val="EF50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6C8925A-3636-5E96-3E02-22ABE85F05C5}"/>
              </a:ext>
            </a:extLst>
          </p:cNvPr>
          <p:cNvSpPr txBox="1"/>
          <p:nvPr/>
        </p:nvSpPr>
        <p:spPr>
          <a:xfrm>
            <a:off x="8324850" y="2619375"/>
            <a:ext cx="287655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400" b="1">
                <a:solidFill>
                  <a:srgbClr val="2D3436"/>
                </a:solidFill>
                <a:latin typeface="Malgun Gothic" panose="020B0503020000020004" pitchFamily="50" charset="-127"/>
              </a:rPr>
              <a:t>기대 효과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47399D-E345-6899-69D1-367B76D8369A}"/>
              </a:ext>
            </a:extLst>
          </p:cNvPr>
          <p:cNvSpPr txBox="1"/>
          <p:nvPr/>
        </p:nvSpPr>
        <p:spPr>
          <a:xfrm>
            <a:off x="8324850" y="3000375"/>
            <a:ext cx="2876550" cy="92333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>
                <a:solidFill>
                  <a:srgbClr val="4B4B4B"/>
                </a:solidFill>
                <a:latin typeface="Malgun Gothic" panose="020B0503020000020004" pitchFamily="50" charset="-127"/>
              </a:rPr>
              <a:t>북토크가 </a:t>
            </a:r>
            <a:r>
              <a:rPr lang="en-US" altLang="ko-KR">
                <a:solidFill>
                  <a:srgbClr val="4B4B4B"/>
                </a:solidFill>
                <a:latin typeface="Malgun Gothic" panose="020B0503020000020004" pitchFamily="50" charset="-127"/>
              </a:rPr>
              <a:t>'</a:t>
            </a:r>
            <a:r>
              <a:rPr lang="ko-KR" altLang="en-US">
                <a:solidFill>
                  <a:srgbClr val="4B4B4B"/>
                </a:solidFill>
                <a:latin typeface="Malgun Gothic" panose="020B0503020000020004" pitchFamily="50" charset="-127"/>
              </a:rPr>
              <a:t>숙제</a:t>
            </a:r>
            <a:r>
              <a:rPr lang="en-US" altLang="ko-KR">
                <a:solidFill>
                  <a:srgbClr val="4B4B4B"/>
                </a:solidFill>
                <a:latin typeface="Malgun Gothic" panose="020B0503020000020004" pitchFamily="50" charset="-127"/>
              </a:rPr>
              <a:t>'</a:t>
            </a:r>
            <a:r>
              <a:rPr lang="ko-KR" altLang="en-US">
                <a:solidFill>
                  <a:srgbClr val="4B4B4B"/>
                </a:solidFill>
                <a:latin typeface="Malgun Gothic" panose="020B0503020000020004" pitchFamily="50" charset="-127"/>
              </a:rPr>
              <a:t>가 아닌 </a:t>
            </a:r>
            <a:r>
              <a:rPr lang="en-US" altLang="ko-KR">
                <a:solidFill>
                  <a:srgbClr val="4B4B4B"/>
                </a:solidFill>
                <a:latin typeface="Malgun Gothic" panose="020B0503020000020004" pitchFamily="50" charset="-127"/>
              </a:rPr>
              <a:t>'</a:t>
            </a:r>
            <a:r>
              <a:rPr lang="ko-KR" altLang="en-US">
                <a:solidFill>
                  <a:srgbClr val="4B4B4B"/>
                </a:solidFill>
                <a:latin typeface="Malgun Gothic" panose="020B0503020000020004" pitchFamily="50" charset="-127"/>
              </a:rPr>
              <a:t>성장의 도구</a:t>
            </a:r>
            <a:r>
              <a:rPr lang="en-US" altLang="ko-KR">
                <a:solidFill>
                  <a:srgbClr val="4B4B4B"/>
                </a:solidFill>
                <a:latin typeface="Malgun Gothic" panose="020B0503020000020004" pitchFamily="50" charset="-127"/>
              </a:rPr>
              <a:t>'</a:t>
            </a:r>
            <a:r>
              <a:rPr lang="ko-KR" altLang="en-US">
                <a:solidFill>
                  <a:srgbClr val="4B4B4B"/>
                </a:solidFill>
                <a:latin typeface="Malgun Gothic" panose="020B0503020000020004" pitchFamily="50" charset="-127"/>
              </a:rPr>
              <a:t>임을 전사가 체감하게 함</a:t>
            </a:r>
          </a:p>
        </p:txBody>
      </p:sp>
    </p:spTree>
    <p:extLst>
      <p:ext uri="{BB962C8B-B14F-4D97-AF65-F5344CB8AC3E}">
        <p14:creationId xmlns:p14="http://schemas.microsoft.com/office/powerpoint/2010/main" val="2761212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03CEB00-4EA7-85F6-6CF1-10DF00CD2795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F50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B260BC53-B32C-E50B-DE99-CBCCF5C8C638}"/>
              </a:ext>
            </a:extLst>
          </p:cNvPr>
          <p:cNvSpPr/>
          <p:nvPr/>
        </p:nvSpPr>
        <p:spPr>
          <a:xfrm>
            <a:off x="9620250" y="285750"/>
            <a:ext cx="1809750" cy="400050"/>
          </a:xfrm>
          <a:prstGeom prst="roundRect">
            <a:avLst/>
          </a:prstGeom>
          <a:solidFill>
            <a:srgbClr val="FFF1F0"/>
          </a:solidFill>
          <a:ln w="15875">
            <a:solidFill>
              <a:srgbClr val="EF50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7150" tIns="66675" rtlCol="0" anchor="ctr">
            <a:noAutofit/>
          </a:bodyPr>
          <a:lstStyle/>
          <a:p>
            <a:pPr algn="ctr"/>
            <a:r>
              <a:rPr lang="ko-KR" altLang="en-US" sz="1400" b="1">
                <a:solidFill>
                  <a:srgbClr val="EF5030"/>
                </a:solidFill>
                <a:latin typeface="Malgun Gothic" panose="020B0503020000020004" pitchFamily="50" charset="-127"/>
              </a:rPr>
              <a:t>기획 의도</a:t>
            </a:r>
            <a:r>
              <a:rPr lang="en-US" altLang="ko-KR" sz="1400" b="1">
                <a:solidFill>
                  <a:srgbClr val="EF5030"/>
                </a:solidFill>
                <a:latin typeface="Malgun Gothic" panose="020B0503020000020004" pitchFamily="50" charset="-127"/>
              </a:rPr>
              <a:t>: Deep Dive</a:t>
            </a:r>
            <a:endParaRPr lang="ko-KR" altLang="en-US" sz="1400" b="1">
              <a:solidFill>
                <a:srgbClr val="EF503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4F5851-CFB2-7A7C-6A91-0CA31F6AC6C2}"/>
              </a:ext>
            </a:extLst>
          </p:cNvPr>
          <p:cNvSpPr txBox="1"/>
          <p:nvPr/>
        </p:nvSpPr>
        <p:spPr>
          <a:xfrm>
            <a:off x="762000" y="704850"/>
            <a:ext cx="8572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3800" b="1">
                <a:solidFill>
                  <a:srgbClr val="EF5030"/>
                </a:solidFill>
                <a:latin typeface="Malgun Gothic" panose="020B0503020000020004" pitchFamily="50" charset="-127"/>
              </a:rPr>
              <a:t>Part 2-2. Dev Ocean </a:t>
            </a:r>
            <a:r>
              <a:rPr lang="ko-KR" altLang="en-US" sz="3800" b="1">
                <a:solidFill>
                  <a:srgbClr val="EF5030"/>
                </a:solidFill>
                <a:latin typeface="Malgun Gothic" panose="020B0503020000020004" pitchFamily="50" charset="-127"/>
              </a:rPr>
              <a:t>세미나 운영 전략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8C935C-8F61-2196-131F-8DF9E9418A05}"/>
              </a:ext>
            </a:extLst>
          </p:cNvPr>
          <p:cNvSpPr txBox="1"/>
          <p:nvPr/>
        </p:nvSpPr>
        <p:spPr>
          <a:xfrm>
            <a:off x="762000" y="1123950"/>
            <a:ext cx="9334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000">
                <a:solidFill>
                  <a:srgbClr val="6C757D"/>
                </a:solidFill>
                <a:latin typeface="Malgun Gothic" panose="020B0503020000020004" pitchFamily="50" charset="-127"/>
              </a:rPr>
              <a:t>기술 공유 문화의 자부심 </a:t>
            </a:r>
            <a:r>
              <a:rPr lang="en-US" altLang="ko-KR" sz="2000">
                <a:solidFill>
                  <a:srgbClr val="6C757D"/>
                </a:solidFill>
                <a:latin typeface="Malgun Gothic" panose="020B0503020000020004" pitchFamily="50" charset="-127"/>
              </a:rPr>
              <a:t>- "</a:t>
            </a:r>
            <a:r>
              <a:rPr lang="ko-KR" altLang="en-US" sz="2000">
                <a:solidFill>
                  <a:srgbClr val="6C757D"/>
                </a:solidFill>
                <a:latin typeface="Malgun Gothic" panose="020B0503020000020004" pitchFamily="50" charset="-127"/>
              </a:rPr>
              <a:t>동료가 나의 가장 좋은 스승이다</a:t>
            </a:r>
            <a:r>
              <a:rPr lang="en-US" altLang="ko-KR" sz="2000">
                <a:solidFill>
                  <a:srgbClr val="6C757D"/>
                </a:solidFill>
                <a:latin typeface="Malgun Gothic" panose="020B0503020000020004" pitchFamily="50" charset="-127"/>
              </a:rPr>
              <a:t>"</a:t>
            </a:r>
            <a:endParaRPr lang="ko-KR" altLang="en-US" sz="2000">
              <a:solidFill>
                <a:srgbClr val="6C757D"/>
              </a:solidFill>
              <a:latin typeface="Malgun Gothic" panose="020B0503020000020004" pitchFamily="50" charset="-127"/>
            </a:endParaRP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4CE6AB2-C178-45B3-2EC6-28FAF81D5E78}"/>
              </a:ext>
            </a:extLst>
          </p:cNvPr>
          <p:cNvCxnSpPr/>
          <p:nvPr/>
        </p:nvCxnSpPr>
        <p:spPr>
          <a:xfrm>
            <a:off x="762000" y="1600200"/>
            <a:ext cx="10668000" cy="0"/>
          </a:xfrm>
          <a:prstGeom prst="line">
            <a:avLst/>
          </a:prstGeom>
          <a:ln w="19050">
            <a:solidFill>
              <a:srgbClr val="F1F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C5A6F141-97CD-675B-335F-4D157188F08C}"/>
              </a:ext>
            </a:extLst>
          </p:cNvPr>
          <p:cNvSpPr/>
          <p:nvPr/>
        </p:nvSpPr>
        <p:spPr>
          <a:xfrm>
            <a:off x="762000" y="2095500"/>
            <a:ext cx="10668000" cy="1238250"/>
          </a:xfrm>
          <a:prstGeom prst="roundRect">
            <a:avLst/>
          </a:prstGeom>
          <a:solidFill>
            <a:srgbClr val="FFF1F0"/>
          </a:solidFill>
          <a:ln w="19050">
            <a:solidFill>
              <a:srgbClr val="EF503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6EC9D8-9034-F3E0-479C-93A81005EF65}"/>
              </a:ext>
            </a:extLst>
          </p:cNvPr>
          <p:cNvSpPr txBox="1"/>
          <p:nvPr/>
        </p:nvSpPr>
        <p:spPr>
          <a:xfrm>
            <a:off x="952500" y="2286000"/>
            <a:ext cx="1028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400" b="1">
                <a:solidFill>
                  <a:srgbClr val="EF5030"/>
                </a:solidFill>
                <a:latin typeface="Malgun Gothic" panose="020B0503020000020004" pitchFamily="50" charset="-127"/>
              </a:rPr>
              <a:t>전달 메시지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2E9BA8-1837-8EDE-D58E-C8830F72A6AC}"/>
              </a:ext>
            </a:extLst>
          </p:cNvPr>
          <p:cNvSpPr txBox="1"/>
          <p:nvPr/>
        </p:nvSpPr>
        <p:spPr>
          <a:xfrm>
            <a:off x="952500" y="2686050"/>
            <a:ext cx="10287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2000">
                <a:solidFill>
                  <a:srgbClr val="2D3436"/>
                </a:solidFill>
                <a:latin typeface="Malgun Gothic" panose="020B0503020000020004" pitchFamily="50" charset="-127"/>
              </a:rPr>
              <a:t>"</a:t>
            </a:r>
            <a:r>
              <a:rPr lang="ko-KR" altLang="en-US" sz="2000">
                <a:solidFill>
                  <a:srgbClr val="2D3436"/>
                </a:solidFill>
                <a:latin typeface="Malgun Gothic" panose="020B0503020000020004" pitchFamily="50" charset="-127"/>
              </a:rPr>
              <a:t>우리 개발팀은 이렇게 치열하게 고민하고 서로의 지식을 나누며 제품을 만듭니다</a:t>
            </a:r>
            <a:r>
              <a:rPr lang="en-US" altLang="ko-KR" sz="2000">
                <a:solidFill>
                  <a:srgbClr val="2D3436"/>
                </a:solidFill>
                <a:latin typeface="Malgun Gothic" panose="020B0503020000020004" pitchFamily="50" charset="-127"/>
              </a:rPr>
              <a:t>."</a:t>
            </a:r>
            <a:endParaRPr lang="ko-KR" altLang="en-US" sz="2000">
              <a:solidFill>
                <a:srgbClr val="2D3436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F6638945-4161-7AC6-05A1-26E5B33F3A8D}"/>
              </a:ext>
            </a:extLst>
          </p:cNvPr>
          <p:cNvSpPr/>
          <p:nvPr/>
        </p:nvSpPr>
        <p:spPr>
          <a:xfrm>
            <a:off x="762000" y="3667125"/>
            <a:ext cx="5048250" cy="1476375"/>
          </a:xfrm>
          <a:prstGeom prst="roundRect">
            <a:avLst/>
          </a:prstGeom>
          <a:solidFill>
            <a:srgbClr val="F1F2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3D688D2-0A83-41D5-FC30-58C3C48E7751}"/>
              </a:ext>
            </a:extLst>
          </p:cNvPr>
          <p:cNvSpPr/>
          <p:nvPr/>
        </p:nvSpPr>
        <p:spPr>
          <a:xfrm>
            <a:off x="762000" y="3667125"/>
            <a:ext cx="47625" cy="1476375"/>
          </a:xfrm>
          <a:prstGeom prst="rect">
            <a:avLst/>
          </a:prstGeom>
          <a:solidFill>
            <a:srgbClr val="EF50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D4E60F-DF93-4524-3855-2851D5CFE25D}"/>
              </a:ext>
            </a:extLst>
          </p:cNvPr>
          <p:cNvSpPr txBox="1"/>
          <p:nvPr/>
        </p:nvSpPr>
        <p:spPr>
          <a:xfrm>
            <a:off x="990600" y="3857625"/>
            <a:ext cx="459105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400" b="1">
                <a:solidFill>
                  <a:srgbClr val="2D3436"/>
                </a:solidFill>
                <a:latin typeface="Malgun Gothic" panose="020B0503020000020004" pitchFamily="50" charset="-127"/>
              </a:rPr>
              <a:t>비개발직군 배려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AD1BF8-5D4D-6205-3C7B-82F6C1F982F3}"/>
              </a:ext>
            </a:extLst>
          </p:cNvPr>
          <p:cNvSpPr txBox="1"/>
          <p:nvPr/>
        </p:nvSpPr>
        <p:spPr>
          <a:xfrm>
            <a:off x="990600" y="4238625"/>
            <a:ext cx="4591050" cy="92333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>
                <a:solidFill>
                  <a:srgbClr val="4B4B4B"/>
                </a:solidFill>
                <a:latin typeface="Malgun Gothic" panose="020B0503020000020004" pitchFamily="50" charset="-127"/>
              </a:rPr>
              <a:t>너무 기술적인 디테일보다는</a:t>
            </a:r>
            <a:r>
              <a:rPr lang="en-US" altLang="ko-KR">
                <a:solidFill>
                  <a:srgbClr val="4B4B4B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>
                <a:solidFill>
                  <a:srgbClr val="4B4B4B"/>
                </a:solidFill>
                <a:latin typeface="Malgun Gothic" panose="020B0503020000020004" pitchFamily="50" charset="-127"/>
              </a:rPr>
              <a:t>세미나를 통해 해결한 </a:t>
            </a:r>
            <a:r>
              <a:rPr lang="en-US" altLang="ko-KR">
                <a:solidFill>
                  <a:srgbClr val="4B4B4B"/>
                </a:solidFill>
                <a:latin typeface="Malgun Gothic" panose="020B0503020000020004" pitchFamily="50" charset="-127"/>
              </a:rPr>
              <a:t>'</a:t>
            </a:r>
            <a:r>
              <a:rPr lang="ko-KR" altLang="en-US">
                <a:solidFill>
                  <a:srgbClr val="4B4B4B"/>
                </a:solidFill>
                <a:latin typeface="Malgun Gothic" panose="020B0503020000020004" pitchFamily="50" charset="-127"/>
              </a:rPr>
              <a:t>문제</a:t>
            </a:r>
            <a:r>
              <a:rPr lang="en-US" altLang="ko-KR">
                <a:solidFill>
                  <a:srgbClr val="4B4B4B"/>
                </a:solidFill>
                <a:latin typeface="Malgun Gothic" panose="020B0503020000020004" pitchFamily="50" charset="-127"/>
              </a:rPr>
              <a:t>'</a:t>
            </a:r>
            <a:r>
              <a:rPr lang="ko-KR" altLang="en-US">
                <a:solidFill>
                  <a:srgbClr val="4B4B4B"/>
                </a:solidFill>
                <a:latin typeface="Malgun Gothic" panose="020B0503020000020004" pitchFamily="50" charset="-127"/>
              </a:rPr>
              <a:t>와 그 </a:t>
            </a:r>
            <a:r>
              <a:rPr lang="en-US" altLang="ko-KR">
                <a:solidFill>
                  <a:srgbClr val="4B4B4B"/>
                </a:solidFill>
                <a:latin typeface="Malgun Gothic" panose="020B0503020000020004" pitchFamily="50" charset="-127"/>
              </a:rPr>
              <a:t>'</a:t>
            </a:r>
            <a:r>
              <a:rPr lang="ko-KR" altLang="en-US">
                <a:solidFill>
                  <a:srgbClr val="4B4B4B"/>
                </a:solidFill>
                <a:latin typeface="Malgun Gothic" panose="020B0503020000020004" pitchFamily="50" charset="-127"/>
              </a:rPr>
              <a:t>가치</a:t>
            </a:r>
            <a:r>
              <a:rPr lang="en-US" altLang="ko-KR">
                <a:solidFill>
                  <a:srgbClr val="4B4B4B"/>
                </a:solidFill>
                <a:latin typeface="Malgun Gothic" panose="020B0503020000020004" pitchFamily="50" charset="-127"/>
              </a:rPr>
              <a:t>'</a:t>
            </a:r>
            <a:r>
              <a:rPr lang="ko-KR" altLang="en-US">
                <a:solidFill>
                  <a:srgbClr val="4B4B4B"/>
                </a:solidFill>
                <a:latin typeface="Malgun Gothic" panose="020B0503020000020004" pitchFamily="50" charset="-127"/>
              </a:rPr>
              <a:t>에 집중하여 설명</a:t>
            </a: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ECB4A6F-C228-12A1-0477-9F3789CD0B9F}"/>
              </a:ext>
            </a:extLst>
          </p:cNvPr>
          <p:cNvSpPr/>
          <p:nvPr/>
        </p:nvSpPr>
        <p:spPr>
          <a:xfrm>
            <a:off x="6191250" y="3667125"/>
            <a:ext cx="5048250" cy="1476375"/>
          </a:xfrm>
          <a:prstGeom prst="roundRect">
            <a:avLst/>
          </a:prstGeom>
          <a:solidFill>
            <a:srgbClr val="F1F2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F0E2E75-EF27-15FC-E9D2-426D9DE3A8AE}"/>
              </a:ext>
            </a:extLst>
          </p:cNvPr>
          <p:cNvSpPr/>
          <p:nvPr/>
        </p:nvSpPr>
        <p:spPr>
          <a:xfrm>
            <a:off x="6191250" y="3667125"/>
            <a:ext cx="47625" cy="1476375"/>
          </a:xfrm>
          <a:prstGeom prst="rect">
            <a:avLst/>
          </a:prstGeom>
          <a:solidFill>
            <a:srgbClr val="EF50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84F755C-052F-0035-C2B9-E8D8E7FE2F31}"/>
              </a:ext>
            </a:extLst>
          </p:cNvPr>
          <p:cNvSpPr txBox="1"/>
          <p:nvPr/>
        </p:nvSpPr>
        <p:spPr>
          <a:xfrm>
            <a:off x="6419850" y="3857625"/>
            <a:ext cx="459105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400" b="1">
                <a:solidFill>
                  <a:srgbClr val="2D3436"/>
                </a:solidFill>
                <a:latin typeface="Malgun Gothic" panose="020B0503020000020004" pitchFamily="50" charset="-127"/>
              </a:rPr>
              <a:t>브랜딩 효과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BE7F2C0-9249-60EC-2EDF-53375F2BF8D1}"/>
              </a:ext>
            </a:extLst>
          </p:cNvPr>
          <p:cNvSpPr txBox="1"/>
          <p:nvPr/>
        </p:nvSpPr>
        <p:spPr>
          <a:xfrm>
            <a:off x="6419850" y="4238625"/>
            <a:ext cx="4591050" cy="64633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>
                <a:solidFill>
                  <a:srgbClr val="4B4B4B"/>
                </a:solidFill>
                <a:latin typeface="Malgun Gothic" panose="020B0503020000020004" pitchFamily="50" charset="-127"/>
              </a:rPr>
              <a:t>자발적 학습 공동체로서의 이미지를 구축하여 채용 브랜딩 및 내부 로열티 강화</a:t>
            </a:r>
          </a:p>
        </p:txBody>
      </p:sp>
    </p:spTree>
    <p:extLst>
      <p:ext uri="{BB962C8B-B14F-4D97-AF65-F5344CB8AC3E}">
        <p14:creationId xmlns:p14="http://schemas.microsoft.com/office/powerpoint/2010/main" val="1009739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E7329A0-63FE-3008-510D-914276A3AE98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F50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6E687A15-302B-EA24-5A9E-31F12F9C4079}"/>
              </a:ext>
            </a:extLst>
          </p:cNvPr>
          <p:cNvSpPr/>
          <p:nvPr/>
        </p:nvSpPr>
        <p:spPr>
          <a:xfrm>
            <a:off x="9620250" y="285750"/>
            <a:ext cx="1809750" cy="400050"/>
          </a:xfrm>
          <a:prstGeom prst="roundRect">
            <a:avLst/>
          </a:prstGeom>
          <a:solidFill>
            <a:srgbClr val="FFF1F0"/>
          </a:solidFill>
          <a:ln w="15875">
            <a:solidFill>
              <a:srgbClr val="EF50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7150" tIns="66675" rtlCol="0" anchor="ctr">
            <a:noAutofit/>
          </a:bodyPr>
          <a:lstStyle/>
          <a:p>
            <a:pPr algn="ctr"/>
            <a:r>
              <a:rPr lang="ko-KR" altLang="en-US" sz="1400" b="1">
                <a:solidFill>
                  <a:srgbClr val="EF5030"/>
                </a:solidFill>
                <a:latin typeface="Malgun Gothic" panose="020B0503020000020004" pitchFamily="50" charset="-127"/>
              </a:rPr>
              <a:t>기획 의도</a:t>
            </a:r>
            <a:r>
              <a:rPr lang="en-US" altLang="ko-KR" sz="1400" b="1">
                <a:solidFill>
                  <a:srgbClr val="EF5030"/>
                </a:solidFill>
                <a:latin typeface="Malgun Gothic" panose="020B0503020000020004" pitchFamily="50" charset="-127"/>
              </a:rPr>
              <a:t>: Identity</a:t>
            </a:r>
            <a:endParaRPr lang="ko-KR" altLang="en-US" sz="1400" b="1">
              <a:solidFill>
                <a:srgbClr val="EF503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C7AC38-9002-4044-1C04-C5E82B0B6A1C}"/>
              </a:ext>
            </a:extLst>
          </p:cNvPr>
          <p:cNvSpPr txBox="1"/>
          <p:nvPr/>
        </p:nvSpPr>
        <p:spPr>
          <a:xfrm>
            <a:off x="762000" y="704850"/>
            <a:ext cx="8572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3800" b="1">
                <a:solidFill>
                  <a:srgbClr val="EF5030"/>
                </a:solidFill>
                <a:latin typeface="Malgun Gothic" panose="020B0503020000020004" pitchFamily="50" charset="-127"/>
              </a:rPr>
              <a:t>Part 3. Book Identity &amp; Future</a:t>
            </a:r>
            <a:endParaRPr lang="ko-KR" altLang="en-US" sz="3800" b="1">
              <a:solidFill>
                <a:srgbClr val="EF503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8F3299-B437-38F1-9934-26E13E2FB3D0}"/>
              </a:ext>
            </a:extLst>
          </p:cNvPr>
          <p:cNvSpPr txBox="1"/>
          <p:nvPr/>
        </p:nvSpPr>
        <p:spPr>
          <a:xfrm>
            <a:off x="762000" y="1123950"/>
            <a:ext cx="9334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000">
                <a:solidFill>
                  <a:srgbClr val="6C757D"/>
                </a:solidFill>
                <a:latin typeface="Malgun Gothic" panose="020B0503020000020004" pitchFamily="50" charset="-127"/>
              </a:rPr>
              <a:t>시스템 고도화 보고 및 데이터 기반의 독서 독려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456669EB-6811-D14E-9FAC-91D6520FF961}"/>
              </a:ext>
            </a:extLst>
          </p:cNvPr>
          <p:cNvCxnSpPr/>
          <p:nvPr/>
        </p:nvCxnSpPr>
        <p:spPr>
          <a:xfrm>
            <a:off x="762000" y="1600200"/>
            <a:ext cx="10668000" cy="0"/>
          </a:xfrm>
          <a:prstGeom prst="line">
            <a:avLst/>
          </a:prstGeom>
          <a:ln w="19050">
            <a:solidFill>
              <a:srgbClr val="F1F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199C75A-8CB8-9F77-A898-D74FB6056F88}"/>
              </a:ext>
            </a:extLst>
          </p:cNvPr>
          <p:cNvSpPr/>
          <p:nvPr/>
        </p:nvSpPr>
        <p:spPr>
          <a:xfrm>
            <a:off x="762000" y="2286000"/>
            <a:ext cx="5048250" cy="1809750"/>
          </a:xfrm>
          <a:prstGeom prst="roundRect">
            <a:avLst/>
          </a:prstGeom>
          <a:solidFill>
            <a:srgbClr val="F1F2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4095954-18CD-A881-5D60-B40DE85D19A2}"/>
              </a:ext>
            </a:extLst>
          </p:cNvPr>
          <p:cNvSpPr/>
          <p:nvPr/>
        </p:nvSpPr>
        <p:spPr>
          <a:xfrm>
            <a:off x="762000" y="2286000"/>
            <a:ext cx="47625" cy="1809750"/>
          </a:xfrm>
          <a:prstGeom prst="rect">
            <a:avLst/>
          </a:prstGeom>
          <a:solidFill>
            <a:srgbClr val="EF50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DA726C-117F-B39C-8D75-22C291DDE79F}"/>
              </a:ext>
            </a:extLst>
          </p:cNvPr>
          <p:cNvSpPr txBox="1"/>
          <p:nvPr/>
        </p:nvSpPr>
        <p:spPr>
          <a:xfrm>
            <a:off x="990600" y="2476500"/>
            <a:ext cx="459105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400" b="1">
                <a:solidFill>
                  <a:srgbClr val="2D3436"/>
                </a:solidFill>
                <a:latin typeface="Malgun Gothic" panose="020B0503020000020004" pitchFamily="50" charset="-127"/>
              </a:rPr>
              <a:t>시스템 고도화</a:t>
            </a:r>
            <a:r>
              <a:rPr lang="en-US" altLang="ko-KR" sz="2400" b="1">
                <a:solidFill>
                  <a:srgbClr val="2D3436"/>
                </a:solidFill>
                <a:latin typeface="Malgun Gothic" panose="020B0503020000020004" pitchFamily="50" charset="-127"/>
              </a:rPr>
              <a:t>(UX)</a:t>
            </a:r>
            <a:endParaRPr lang="ko-KR" altLang="en-US" sz="2400" b="1">
              <a:solidFill>
                <a:srgbClr val="2D3436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BCEEB1-1FCC-C1B7-42E0-FCAD1092D901}"/>
              </a:ext>
            </a:extLst>
          </p:cNvPr>
          <p:cNvSpPr txBox="1"/>
          <p:nvPr/>
        </p:nvSpPr>
        <p:spPr>
          <a:xfrm>
            <a:off x="990600" y="2857500"/>
            <a:ext cx="4591050" cy="92333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>
                <a:solidFill>
                  <a:srgbClr val="4B4B4B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>
                <a:solidFill>
                  <a:srgbClr val="4B4B4B"/>
                </a:solidFill>
                <a:latin typeface="Malgun Gothic" panose="020B0503020000020004" pitchFamily="50" charset="-127"/>
              </a:rPr>
              <a:t>실시간 대여 현황 및 알림톡 기능 시연</a:t>
            </a:r>
          </a:p>
          <a:p>
            <a:r>
              <a:rPr lang="en-US" altLang="ko-KR">
                <a:solidFill>
                  <a:srgbClr val="4B4B4B"/>
                </a:solidFill>
                <a:latin typeface="Malgun Gothic" panose="020B0503020000020004" pitchFamily="50" charset="-127"/>
              </a:rPr>
              <a:t>- "</a:t>
            </a:r>
            <a:r>
              <a:rPr lang="ko-KR" altLang="en-US">
                <a:solidFill>
                  <a:srgbClr val="4B4B4B"/>
                </a:solidFill>
                <a:latin typeface="Malgun Gothic" panose="020B0503020000020004" pitchFamily="50" charset="-127"/>
              </a:rPr>
              <a:t>더 편하게 읽을 수 있는 환경</a:t>
            </a:r>
            <a:r>
              <a:rPr lang="en-US" altLang="ko-KR">
                <a:solidFill>
                  <a:srgbClr val="4B4B4B"/>
                </a:solidFill>
                <a:latin typeface="Malgun Gothic" panose="020B0503020000020004" pitchFamily="50" charset="-127"/>
              </a:rPr>
              <a:t>"</a:t>
            </a:r>
            <a:r>
              <a:rPr lang="ko-KR" altLang="en-US">
                <a:solidFill>
                  <a:srgbClr val="4B4B4B"/>
                </a:solidFill>
                <a:latin typeface="Malgun Gothic" panose="020B0503020000020004" pitchFamily="50" charset="-127"/>
              </a:rPr>
              <a:t>이 구축되었음을 강조</a:t>
            </a:r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FE63F40-24C7-C6EA-C19C-96D23123D613}"/>
              </a:ext>
            </a:extLst>
          </p:cNvPr>
          <p:cNvSpPr/>
          <p:nvPr/>
        </p:nvSpPr>
        <p:spPr>
          <a:xfrm>
            <a:off x="6191250" y="2286000"/>
            <a:ext cx="5048250" cy="1809750"/>
          </a:xfrm>
          <a:prstGeom prst="roundRect">
            <a:avLst/>
          </a:prstGeom>
          <a:solidFill>
            <a:srgbClr val="F1F2F6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735206A-3139-647E-D41A-23F033516AEF}"/>
              </a:ext>
            </a:extLst>
          </p:cNvPr>
          <p:cNvSpPr/>
          <p:nvPr/>
        </p:nvSpPr>
        <p:spPr>
          <a:xfrm>
            <a:off x="6191250" y="2286000"/>
            <a:ext cx="47625" cy="1809750"/>
          </a:xfrm>
          <a:prstGeom prst="rect">
            <a:avLst/>
          </a:prstGeom>
          <a:solidFill>
            <a:srgbClr val="EF50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0FBA7E-A211-F723-D2C3-D83BEFBF0BA2}"/>
              </a:ext>
            </a:extLst>
          </p:cNvPr>
          <p:cNvSpPr txBox="1"/>
          <p:nvPr/>
        </p:nvSpPr>
        <p:spPr>
          <a:xfrm>
            <a:off x="6419850" y="2476500"/>
            <a:ext cx="459105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2400" b="1">
                <a:solidFill>
                  <a:srgbClr val="2D3436"/>
                </a:solidFill>
                <a:latin typeface="Malgun Gothic" panose="020B0503020000020004" pitchFamily="50" charset="-127"/>
              </a:rPr>
              <a:t>1Q </a:t>
            </a:r>
            <a:r>
              <a:rPr lang="ko-KR" altLang="en-US" sz="2400" b="1">
                <a:solidFill>
                  <a:srgbClr val="2D3436"/>
                </a:solidFill>
                <a:latin typeface="Malgun Gothic" panose="020B0503020000020004" pitchFamily="50" charset="-127"/>
              </a:rPr>
              <a:t>추천 도서</a:t>
            </a:r>
            <a:r>
              <a:rPr lang="en-US" altLang="ko-KR" sz="2400" b="1">
                <a:solidFill>
                  <a:srgbClr val="2D3436"/>
                </a:solidFill>
                <a:latin typeface="Malgun Gothic" panose="020B0503020000020004" pitchFamily="50" charset="-127"/>
              </a:rPr>
              <a:t>(Data)</a:t>
            </a:r>
            <a:endParaRPr lang="ko-KR" altLang="en-US" sz="2400" b="1">
              <a:solidFill>
                <a:srgbClr val="2D3436"/>
              </a:solidFill>
              <a:latin typeface="Malgun Gothic" panose="020B0503020000020004" pitchFamily="50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4F82523-0B13-E3F7-DF56-CAABA9E65874}"/>
              </a:ext>
            </a:extLst>
          </p:cNvPr>
          <p:cNvSpPr txBox="1"/>
          <p:nvPr/>
        </p:nvSpPr>
        <p:spPr>
          <a:xfrm>
            <a:off x="6419850" y="2857500"/>
            <a:ext cx="4591050" cy="92333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>
                <a:solidFill>
                  <a:srgbClr val="4B4B4B"/>
                </a:solidFill>
                <a:latin typeface="Malgun Gothic" panose="020B0503020000020004" pitchFamily="50" charset="-127"/>
              </a:rPr>
              <a:t>- 1</a:t>
            </a:r>
            <a:r>
              <a:rPr lang="ko-KR" altLang="en-US">
                <a:solidFill>
                  <a:srgbClr val="4B4B4B"/>
                </a:solidFill>
                <a:latin typeface="Malgun Gothic" panose="020B0503020000020004" pitchFamily="50" charset="-127"/>
              </a:rPr>
              <a:t>분기 최다 대여 도서 </a:t>
            </a:r>
            <a:r>
              <a:rPr lang="en-US" altLang="ko-KR">
                <a:solidFill>
                  <a:srgbClr val="4B4B4B"/>
                </a:solidFill>
                <a:latin typeface="Malgun Gothic" panose="020B0503020000020004" pitchFamily="50" charset="-127"/>
              </a:rPr>
              <a:t>TOP 3 </a:t>
            </a:r>
            <a:r>
              <a:rPr lang="ko-KR" altLang="en-US">
                <a:solidFill>
                  <a:srgbClr val="4B4B4B"/>
                </a:solidFill>
                <a:latin typeface="Malgun Gothic" panose="020B0503020000020004" pitchFamily="50" charset="-127"/>
              </a:rPr>
              <a:t>공개</a:t>
            </a:r>
          </a:p>
          <a:p>
            <a:r>
              <a:rPr lang="en-US" altLang="ko-KR">
                <a:solidFill>
                  <a:srgbClr val="4B4B4B"/>
                </a:solidFill>
                <a:latin typeface="Malgun Gothic" panose="020B0503020000020004" pitchFamily="50" charset="-127"/>
              </a:rPr>
              <a:t>- </a:t>
            </a:r>
            <a:r>
              <a:rPr lang="ko-KR" altLang="en-US">
                <a:solidFill>
                  <a:srgbClr val="4B4B4B"/>
                </a:solidFill>
                <a:latin typeface="Malgun Gothic" panose="020B0503020000020004" pitchFamily="50" charset="-127"/>
              </a:rPr>
              <a:t>동료들의 생생한 한 줄 평 공유로 </a:t>
            </a:r>
            <a:r>
              <a:rPr lang="en-US" altLang="ko-KR">
                <a:solidFill>
                  <a:srgbClr val="4B4B4B"/>
                </a:solidFill>
                <a:latin typeface="Malgun Gothic" panose="020B0503020000020004" pitchFamily="50" charset="-127"/>
              </a:rPr>
              <a:t>'</a:t>
            </a:r>
            <a:r>
              <a:rPr lang="ko-KR" altLang="en-US">
                <a:solidFill>
                  <a:srgbClr val="4B4B4B"/>
                </a:solidFill>
                <a:latin typeface="Malgun Gothic" panose="020B0503020000020004" pitchFamily="50" charset="-127"/>
              </a:rPr>
              <a:t>읽고 싶은 욕구</a:t>
            </a:r>
            <a:r>
              <a:rPr lang="en-US" altLang="ko-KR">
                <a:solidFill>
                  <a:srgbClr val="4B4B4B"/>
                </a:solidFill>
                <a:latin typeface="Malgun Gothic" panose="020B0503020000020004" pitchFamily="50" charset="-127"/>
              </a:rPr>
              <a:t>' </a:t>
            </a:r>
            <a:r>
              <a:rPr lang="ko-KR" altLang="en-US">
                <a:solidFill>
                  <a:srgbClr val="4B4B4B"/>
                </a:solidFill>
                <a:latin typeface="Malgun Gothic" panose="020B0503020000020004" pitchFamily="50" charset="-127"/>
              </a:rPr>
              <a:t>자극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CB6F79-230D-442A-8FF5-C18241E70802}"/>
              </a:ext>
            </a:extLst>
          </p:cNvPr>
          <p:cNvSpPr txBox="1"/>
          <p:nvPr/>
        </p:nvSpPr>
        <p:spPr>
          <a:xfrm>
            <a:off x="1619250" y="4524375"/>
            <a:ext cx="8953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n-US" altLang="ko-KR" sz="2400" b="1">
                <a:solidFill>
                  <a:srgbClr val="EF5030"/>
                </a:solidFill>
                <a:latin typeface="Malgun Gothic" panose="020B0503020000020004" pitchFamily="50" charset="-127"/>
              </a:rPr>
              <a:t>"2</a:t>
            </a:r>
            <a:r>
              <a:rPr lang="ko-KR" altLang="en-US" sz="2400" b="1">
                <a:solidFill>
                  <a:srgbClr val="EF5030"/>
                </a:solidFill>
                <a:latin typeface="Malgun Gothic" panose="020B0503020000020004" pitchFamily="50" charset="-127"/>
              </a:rPr>
              <a:t>분기에도 아이포트폴리오는 계속 읽고 성장합니다</a:t>
            </a:r>
            <a:r>
              <a:rPr lang="en-US" altLang="ko-KR" sz="2400" b="1">
                <a:solidFill>
                  <a:srgbClr val="EF5030"/>
                </a:solidFill>
                <a:latin typeface="Malgun Gothic" panose="020B0503020000020004" pitchFamily="50" charset="-127"/>
              </a:rPr>
              <a:t>."</a:t>
            </a:r>
            <a:endParaRPr lang="ko-KR" altLang="en-US" sz="2400" b="1">
              <a:solidFill>
                <a:srgbClr val="EF5030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13243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538B5B4-5E85-6027-3BE2-7529F20E2F88}"/>
              </a:ext>
            </a:extLst>
          </p:cNvPr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EF503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3FBBF411-DAEB-009B-FFF9-B71B7D2449BB}"/>
              </a:ext>
            </a:extLst>
          </p:cNvPr>
          <p:cNvSpPr/>
          <p:nvPr/>
        </p:nvSpPr>
        <p:spPr>
          <a:xfrm>
            <a:off x="9620250" y="285750"/>
            <a:ext cx="1809750" cy="400050"/>
          </a:xfrm>
          <a:prstGeom prst="roundRect">
            <a:avLst/>
          </a:prstGeom>
          <a:solidFill>
            <a:srgbClr val="FFF1F0"/>
          </a:solidFill>
          <a:ln w="15875">
            <a:solidFill>
              <a:srgbClr val="EF50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57150" tIns="66675" rtlCol="0" anchor="ctr">
            <a:noAutofit/>
          </a:bodyPr>
          <a:lstStyle/>
          <a:p>
            <a:pPr algn="ctr"/>
            <a:r>
              <a:rPr lang="ko-KR" altLang="en-US" sz="1400" b="1">
                <a:solidFill>
                  <a:srgbClr val="EF5030"/>
                </a:solidFill>
                <a:latin typeface="Malgun Gothic" panose="020B0503020000020004" pitchFamily="50" charset="-127"/>
              </a:rPr>
              <a:t>실행 가이드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2A23E5-51A8-77D6-868B-E3328FC0A37E}"/>
              </a:ext>
            </a:extLst>
          </p:cNvPr>
          <p:cNvSpPr txBox="1"/>
          <p:nvPr/>
        </p:nvSpPr>
        <p:spPr>
          <a:xfrm>
            <a:off x="762000" y="704850"/>
            <a:ext cx="8572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3800" b="1">
                <a:solidFill>
                  <a:srgbClr val="EF5030"/>
                </a:solidFill>
                <a:latin typeface="Malgun Gothic" panose="020B0503020000020004" pitchFamily="50" charset="-127"/>
              </a:rPr>
              <a:t>담당자 준비 사항 및 가이드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B400E5-1B21-30E8-F61F-5927E5D740DC}"/>
              </a:ext>
            </a:extLst>
          </p:cNvPr>
          <p:cNvSpPr txBox="1"/>
          <p:nvPr/>
        </p:nvSpPr>
        <p:spPr>
          <a:xfrm>
            <a:off x="762000" y="1123950"/>
            <a:ext cx="93345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000">
                <a:solidFill>
                  <a:srgbClr val="6C757D"/>
                </a:solidFill>
                <a:latin typeface="Malgun Gothic" panose="020B0503020000020004" pitchFamily="50" charset="-127"/>
              </a:rPr>
              <a:t>성공적인 브리핑 세션을 위한 협조 요청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3B243768-2DD6-23A0-ECA1-7FF5B1452E81}"/>
              </a:ext>
            </a:extLst>
          </p:cNvPr>
          <p:cNvCxnSpPr/>
          <p:nvPr/>
        </p:nvCxnSpPr>
        <p:spPr>
          <a:xfrm>
            <a:off x="762000" y="1600200"/>
            <a:ext cx="10668000" cy="0"/>
          </a:xfrm>
          <a:prstGeom prst="line">
            <a:avLst/>
          </a:prstGeom>
          <a:ln w="19050">
            <a:solidFill>
              <a:srgbClr val="F1F2F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BAF51DFA-8047-A51A-C7A1-DA52A4055252}"/>
              </a:ext>
            </a:extLst>
          </p:cNvPr>
          <p:cNvSpPr/>
          <p:nvPr/>
        </p:nvSpPr>
        <p:spPr>
          <a:xfrm>
            <a:off x="762000" y="2095500"/>
            <a:ext cx="10668000" cy="24288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28600" tIns="171450" rIns="190500" bIns="171450" rtlCol="0" anchor="ctr"/>
          <a:lstStyle/>
          <a:p>
            <a:pPr algn="ctr"/>
            <a:r>
              <a:rPr lang="en-US" altLang="ko-KR" sz="2000">
                <a:solidFill>
                  <a:srgbClr val="2D3436"/>
                </a:solidFill>
                <a:latin typeface="Malgun Gothic" panose="020B0503020000020004" pitchFamily="50" charset="-127"/>
              </a:rPr>
              <a:t>??</a:t>
            </a:r>
            <a:r>
              <a:rPr lang="ko-KR" altLang="en-US" sz="2000">
                <a:solidFill>
                  <a:srgbClr val="2D3436"/>
                </a:solidFill>
                <a:latin typeface="Malgun Gothic" panose="020B0503020000020004" pitchFamily="50" charset="-127"/>
              </a:rPr>
              <a:t>공통</a:t>
            </a:r>
            <a:r>
              <a:rPr lang="en-US" altLang="ko-KR" sz="2000">
                <a:solidFill>
                  <a:srgbClr val="2D3436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2000">
                <a:solidFill>
                  <a:srgbClr val="2D3436"/>
                </a:solidFill>
                <a:latin typeface="Malgun Gothic" panose="020B0503020000020004" pitchFamily="50" charset="-127"/>
              </a:rPr>
              <a:t>발표용 고화질 사진 최소 </a:t>
            </a:r>
            <a:r>
              <a:rPr lang="en-US" altLang="ko-KR" sz="2000">
                <a:solidFill>
                  <a:srgbClr val="2D3436"/>
                </a:solidFill>
                <a:latin typeface="Malgun Gothic" panose="020B0503020000020004" pitchFamily="50" charset="-127"/>
              </a:rPr>
              <a:t>5</a:t>
            </a:r>
            <a:r>
              <a:rPr lang="ko-KR" altLang="en-US" sz="2000">
                <a:solidFill>
                  <a:srgbClr val="2D3436"/>
                </a:solidFill>
                <a:latin typeface="Malgun Gothic" panose="020B0503020000020004" pitchFamily="50" charset="-127"/>
              </a:rPr>
              <a:t>장 이상 피플팀 전달 </a:t>
            </a:r>
            <a:r>
              <a:rPr lang="en-US" altLang="ko-KR" sz="2000">
                <a:solidFill>
                  <a:srgbClr val="2D3436"/>
                </a:solidFill>
                <a:latin typeface="Malgun Gothic" panose="020B0503020000020004" pitchFamily="50" charset="-127"/>
              </a:rPr>
              <a:t>(~4/20)</a:t>
            </a:r>
          </a:p>
          <a:p>
            <a:pPr algn="ctr"/>
            <a:endParaRPr lang="en-US" altLang="ko-KR" sz="2000">
              <a:solidFill>
                <a:srgbClr val="2D3436"/>
              </a:solidFill>
              <a:latin typeface="Malgun Gothic" panose="020B0503020000020004" pitchFamily="50" charset="-127"/>
            </a:endParaRPr>
          </a:p>
          <a:p>
            <a:pPr algn="ctr"/>
            <a:r>
              <a:rPr lang="en-US" altLang="ko-KR" sz="2000">
                <a:solidFill>
                  <a:srgbClr val="2D3436"/>
                </a:solidFill>
                <a:latin typeface="Malgun Gothic" panose="020B0503020000020004" pitchFamily="50" charset="-127"/>
              </a:rPr>
              <a:t>??</a:t>
            </a:r>
            <a:r>
              <a:rPr lang="ko-KR" altLang="en-US" sz="2000">
                <a:solidFill>
                  <a:srgbClr val="2D3436"/>
                </a:solidFill>
                <a:latin typeface="Malgun Gothic" panose="020B0503020000020004" pitchFamily="50" charset="-127"/>
              </a:rPr>
              <a:t>북토크</a:t>
            </a:r>
            <a:r>
              <a:rPr lang="en-US" altLang="ko-KR" sz="2000">
                <a:solidFill>
                  <a:srgbClr val="2D3436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2000">
                <a:solidFill>
                  <a:srgbClr val="2D3436"/>
                </a:solidFill>
                <a:latin typeface="Malgun Gothic" panose="020B0503020000020004" pitchFamily="50" charset="-127"/>
              </a:rPr>
              <a:t>데브오션 담당</a:t>
            </a:r>
            <a:r>
              <a:rPr lang="en-US" altLang="ko-KR" sz="2000">
                <a:solidFill>
                  <a:srgbClr val="2D3436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2000">
                <a:solidFill>
                  <a:srgbClr val="2D3436"/>
                </a:solidFill>
                <a:latin typeface="Malgun Gothic" panose="020B0503020000020004" pitchFamily="50" charset="-127"/>
              </a:rPr>
              <a:t>가장 공유하고 싶은 핵심 인사이트 </a:t>
            </a:r>
            <a:r>
              <a:rPr lang="en-US" altLang="ko-KR" sz="2000">
                <a:solidFill>
                  <a:srgbClr val="2D3436"/>
                </a:solidFill>
                <a:latin typeface="Malgun Gothic" panose="020B0503020000020004" pitchFamily="50" charset="-127"/>
              </a:rPr>
              <a:t>1</a:t>
            </a:r>
            <a:r>
              <a:rPr lang="ko-KR" altLang="en-US" sz="2000">
                <a:solidFill>
                  <a:srgbClr val="2D3436"/>
                </a:solidFill>
                <a:latin typeface="Malgun Gothic" panose="020B0503020000020004" pitchFamily="50" charset="-127"/>
              </a:rPr>
              <a:t>가지를 문장형으로 작성</a:t>
            </a:r>
          </a:p>
          <a:p>
            <a:pPr algn="ctr"/>
            <a:endParaRPr lang="ko-KR" altLang="en-US" sz="2000">
              <a:solidFill>
                <a:srgbClr val="2D3436"/>
              </a:solidFill>
              <a:latin typeface="Malgun Gothic" panose="020B0503020000020004" pitchFamily="50" charset="-127"/>
            </a:endParaRPr>
          </a:p>
          <a:p>
            <a:pPr algn="ctr"/>
            <a:r>
              <a:rPr lang="en-US" altLang="ko-KR" sz="2000">
                <a:solidFill>
                  <a:srgbClr val="2D3436"/>
                </a:solidFill>
                <a:latin typeface="Malgun Gothic" panose="020B0503020000020004" pitchFamily="50" charset="-127"/>
              </a:rPr>
              <a:t>??</a:t>
            </a:r>
            <a:r>
              <a:rPr lang="ko-KR" altLang="en-US" sz="2000">
                <a:solidFill>
                  <a:srgbClr val="2D3436"/>
                </a:solidFill>
                <a:latin typeface="Malgun Gothic" panose="020B0503020000020004" pitchFamily="50" charset="-127"/>
              </a:rPr>
              <a:t>도서 시스템 담당</a:t>
            </a:r>
            <a:r>
              <a:rPr lang="en-US" altLang="ko-KR" sz="2000">
                <a:solidFill>
                  <a:srgbClr val="2D3436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2000">
                <a:solidFill>
                  <a:srgbClr val="2D3436"/>
                </a:solidFill>
                <a:latin typeface="Malgun Gothic" panose="020B0503020000020004" pitchFamily="50" charset="-127"/>
              </a:rPr>
              <a:t>시연용 화면 캡처 및 </a:t>
            </a:r>
            <a:r>
              <a:rPr lang="en-US" altLang="ko-KR" sz="2000">
                <a:solidFill>
                  <a:srgbClr val="2D3436"/>
                </a:solidFill>
                <a:latin typeface="Malgun Gothic" panose="020B0503020000020004" pitchFamily="50" charset="-127"/>
              </a:rPr>
              <a:t>2</a:t>
            </a:r>
            <a:r>
              <a:rPr lang="ko-KR" altLang="en-US" sz="2000">
                <a:solidFill>
                  <a:srgbClr val="2D3436"/>
                </a:solidFill>
                <a:latin typeface="Malgun Gothic" panose="020B0503020000020004" pitchFamily="50" charset="-127"/>
              </a:rPr>
              <a:t>분기 신규 입고 도서 리스트 준비</a:t>
            </a:r>
          </a:p>
          <a:p>
            <a:pPr algn="ctr"/>
            <a:endParaRPr lang="ko-KR" altLang="en-US" sz="2000">
              <a:solidFill>
                <a:srgbClr val="2D3436"/>
              </a:solidFill>
              <a:latin typeface="Malgun Gothic" panose="020B0503020000020004" pitchFamily="50" charset="-127"/>
            </a:endParaRPr>
          </a:p>
          <a:p>
            <a:pPr algn="ctr"/>
            <a:r>
              <a:rPr lang="en-US" altLang="ko-KR" sz="2000">
                <a:solidFill>
                  <a:srgbClr val="2D3436"/>
                </a:solidFill>
                <a:latin typeface="Malgun Gothic" panose="020B0503020000020004" pitchFamily="50" charset="-127"/>
              </a:rPr>
              <a:t>??</a:t>
            </a:r>
            <a:r>
              <a:rPr lang="ko-KR" altLang="en-US" sz="2000">
                <a:solidFill>
                  <a:srgbClr val="2D3436"/>
                </a:solidFill>
                <a:latin typeface="Malgun Gothic" panose="020B0503020000020004" pitchFamily="50" charset="-127"/>
              </a:rPr>
              <a:t>현장 분위기</a:t>
            </a:r>
            <a:r>
              <a:rPr lang="en-US" altLang="ko-KR" sz="2000">
                <a:solidFill>
                  <a:srgbClr val="2D3436"/>
                </a:solidFill>
                <a:latin typeface="Malgun Gothic" panose="020B0503020000020004" pitchFamily="50" charset="-127"/>
              </a:rPr>
              <a:t>: </a:t>
            </a:r>
            <a:r>
              <a:rPr lang="ko-KR" altLang="en-US" sz="2000">
                <a:solidFill>
                  <a:srgbClr val="2D3436"/>
                </a:solidFill>
                <a:latin typeface="Malgun Gothic" panose="020B0503020000020004" pitchFamily="50" charset="-127"/>
              </a:rPr>
              <a:t>나들이 장소의 오디오</a:t>
            </a:r>
            <a:r>
              <a:rPr lang="en-US" altLang="ko-KR" sz="2000">
                <a:solidFill>
                  <a:srgbClr val="2D3436"/>
                </a:solidFill>
                <a:latin typeface="Malgun Gothic" panose="020B0503020000020004" pitchFamily="50" charset="-127"/>
              </a:rPr>
              <a:t>/</a:t>
            </a:r>
            <a:r>
              <a:rPr lang="ko-KR" altLang="en-US" sz="2000">
                <a:solidFill>
                  <a:srgbClr val="2D3436"/>
                </a:solidFill>
                <a:latin typeface="Malgun Gothic" panose="020B0503020000020004" pitchFamily="50" charset="-127"/>
              </a:rPr>
              <a:t>스크린 환경 사전 체크 필수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804070-269C-75B5-C353-111AABECB81A}"/>
              </a:ext>
            </a:extLst>
          </p:cNvPr>
          <p:cNvSpPr txBox="1"/>
          <p:nvPr/>
        </p:nvSpPr>
        <p:spPr>
          <a:xfrm>
            <a:off x="762000" y="6191250"/>
            <a:ext cx="4953000" cy="64633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400">
                <a:solidFill>
                  <a:srgbClr val="999999"/>
                </a:solidFill>
                <a:latin typeface="Malgun Gothic" panose="020B0503020000020004" pitchFamily="50" charset="-127"/>
              </a:rPr>
              <a:t>iPORTFOLIO | Organization Culture Team | 1Q Planning Draft</a:t>
            </a:r>
            <a:endParaRPr lang="ko-KR" altLang="en-US" sz="1400">
              <a:solidFill>
                <a:srgbClr val="999999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15073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592</Words>
  <Application>Microsoft Office PowerPoint</Application>
  <PresentationFormat>사용자 지정</PresentationFormat>
  <Paragraphs>73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맑은 고딕</vt:lpstr>
      <vt:lpstr>맑은 고딕</vt:lpstr>
      <vt:lpstr>Arial</vt:lpstr>
      <vt:lpstr>Montserrat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iPortfolio Group1</dc:creator>
  <cp:lastModifiedBy>iPortfolio Group1</cp:lastModifiedBy>
  <cp:revision>1</cp:revision>
  <dcterms:created xsi:type="dcterms:W3CDTF">2026-04-02T05:50:32Z</dcterms:created>
  <dcterms:modified xsi:type="dcterms:W3CDTF">2026-04-02T05:50:32Z</dcterms:modified>
</cp:coreProperties>
</file>